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image" Target="../media/image-15-1.png"/><Relationship Id="rId4" Type="http://schemas.openxmlformats.org/officeDocument/2006/relationships/image" Target="../media/image-15-1.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41B3D"/>
          </a:solidFill>
          <a:ln/>
        </p:spPr>
      </p:sp>
      <p:sp>
        <p:nvSpPr>
          <p:cNvPr id="3" name="Shape 1"/>
          <p:cNvSpPr/>
          <p:nvPr/>
        </p:nvSpPr>
        <p:spPr>
          <a:xfrm>
            <a:off x="9692640" y="4206240"/>
            <a:ext cx="3291840" cy="3291840"/>
          </a:xfrm>
          <a:prstGeom prst="ellipse">
            <a:avLst/>
          </a:prstGeom>
          <a:solidFill>
            <a:srgbClr val="6FA8DC"/>
          </a:solidFill>
          <a:ln/>
        </p:spPr>
      </p:sp>
      <p:sp>
        <p:nvSpPr>
          <p:cNvPr id="4" name="Shape 2"/>
          <p:cNvSpPr/>
          <p:nvPr/>
        </p:nvSpPr>
        <p:spPr>
          <a:xfrm>
            <a:off x="640080" y="640080"/>
            <a:ext cx="685800" cy="685800"/>
          </a:xfrm>
          <a:prstGeom prst="ellipse">
            <a:avLst/>
          </a:prstGeom>
          <a:solidFill>
            <a:srgbClr val="6FA8DC"/>
          </a:solidFill>
          <a:ln/>
          <a:effectLst>
            <a:outerShdw sx="100000" sy="100000" kx="0" ky="0" algn="bl" rotWithShape="0" blurRad="76200" dist="25400" dir="5400000">
              <a:srgbClr val="0B0F26">
                <a:alpha val="25000"/>
              </a:srgbClr>
            </a:outerShdw>
          </a:effectLst>
        </p:spPr>
      </p:sp>
      <p:pic>
        <p:nvPicPr>
          <p:cNvPr id="5" name="Image 0" descr="/home/claude/ppt_review/icons/baby.png">    </p:cNvPr>
          <p:cNvPicPr>
            <a:picLocks noChangeAspect="1"/>
          </p:cNvPicPr>
          <p:nvPr/>
        </p:nvPicPr>
        <p:blipFill>
          <a:blip r:embed="rId1"/>
          <a:stretch>
            <a:fillRect/>
          </a:stretch>
        </p:blipFill>
        <p:spPr>
          <a:xfrm>
            <a:off x="784098" y="784098"/>
            <a:ext cx="397764" cy="397764"/>
          </a:xfrm>
          <a:prstGeom prst="rect">
            <a:avLst/>
          </a:prstGeom>
        </p:spPr>
      </p:pic>
      <p:sp>
        <p:nvSpPr>
          <p:cNvPr id="6" name="Text 3"/>
          <p:cNvSpPr txBox="1"/>
          <p:nvPr/>
        </p:nvSpPr>
        <p:spPr>
          <a:xfrm>
            <a:off x="640080" y="1600200"/>
            <a:ext cx="7772400" cy="365760"/>
          </a:xfrm>
          <a:prstGeom prst="rect">
            <a:avLst/>
          </a:prstGeom>
          <a:noFill/>
          <a:ln/>
        </p:spPr>
        <p:txBody>
          <a:bodyPr wrap="square" lIns="0" tIns="0" rIns="0" bIns="0" rtlCol="0" anchor="ctr"/>
          <a:lstStyle/>
          <a:p>
            <a:pPr indent="0" marL="0">
              <a:buNone/>
            </a:pPr>
            <a:r>
              <a:rPr lang="en-US" sz="1300" b="1" spc="200" kern="0" dirty="0">
                <a:solidFill>
                  <a:srgbClr val="6FA8DC"/>
                </a:solidFill>
                <a:latin typeface="Calibri" pitchFamily="34" charset="0"/>
                <a:ea typeface="Calibri" pitchFamily="34" charset="-122"/>
                <a:cs typeface="Calibri" pitchFamily="34" charset="-120"/>
              </a:rPr>
              <a:t>PORTFOLIO DE ANÁLISIS DE DATOS</a:t>
            </a:r>
            <a:endParaRPr lang="en-US" sz="1300" dirty="0"/>
          </a:p>
        </p:txBody>
      </p:sp>
      <p:sp>
        <p:nvSpPr>
          <p:cNvPr id="7" name="Text 4"/>
          <p:cNvSpPr txBox="1"/>
          <p:nvPr/>
        </p:nvSpPr>
        <p:spPr>
          <a:xfrm>
            <a:off x="594360" y="1965960"/>
            <a:ext cx="8595360" cy="1737360"/>
          </a:xfrm>
          <a:prstGeom prst="rect">
            <a:avLst/>
          </a:prstGeom>
          <a:noFill/>
          <a:ln/>
        </p:spPr>
        <p:txBody>
          <a:bodyPr wrap="square" lIns="0" tIns="0" rIns="0" bIns="0" rtlCol="0" anchor="t"/>
          <a:lstStyle/>
          <a:p>
            <a:pPr algn="l" indent="0" marL="0">
              <a:lnSpc>
                <a:spcPts val="4400"/>
              </a:lnSpc>
              <a:buNone/>
            </a:pPr>
            <a:r>
              <a:rPr lang="en-US" sz="4000" b="1" dirty="0">
                <a:solidFill>
                  <a:srgbClr val="FFFFFF"/>
                </a:solidFill>
                <a:latin typeface="Cambria" pitchFamily="34" charset="0"/>
                <a:ea typeface="Cambria" pitchFamily="34" charset="-122"/>
                <a:cs typeface="Cambria" pitchFamily="34" charset="-120"/>
              </a:rPr>
              <a:t>Análisis de la natalidad en la</a:t>
            </a:r>
            <a:endParaRPr lang="en-US" sz="4000" dirty="0"/>
          </a:p>
          <a:p>
            <a:pPr algn="l" indent="0" marL="0">
              <a:lnSpc>
                <a:spcPts val="4400"/>
              </a:lnSpc>
              <a:buNone/>
            </a:pPr>
            <a:r>
              <a:rPr lang="en-US" sz="4000" b="1" dirty="0">
                <a:solidFill>
                  <a:srgbClr val="FFFFFF"/>
                </a:solidFill>
                <a:latin typeface="Cambria" pitchFamily="34" charset="0"/>
                <a:ea typeface="Cambria" pitchFamily="34" charset="-122"/>
                <a:cs typeface="Cambria" pitchFamily="34" charset="-120"/>
              </a:rPr>
              <a:t>Comunidad de Madrid</a:t>
            </a:r>
            <a:endParaRPr lang="en-US" sz="4000" dirty="0"/>
          </a:p>
        </p:txBody>
      </p:sp>
      <p:sp>
        <p:nvSpPr>
          <p:cNvPr id="8" name="Text 5"/>
          <p:cNvSpPr txBox="1"/>
          <p:nvPr/>
        </p:nvSpPr>
        <p:spPr>
          <a:xfrm>
            <a:off x="640080" y="3611880"/>
            <a:ext cx="548640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1985 – 2024</a:t>
            </a:r>
            <a:endParaRPr lang="en-US" sz="1800" dirty="0"/>
          </a:p>
        </p:txBody>
      </p:sp>
      <p:sp>
        <p:nvSpPr>
          <p:cNvPr id="9" name="Shape 6"/>
          <p:cNvSpPr/>
          <p:nvPr/>
        </p:nvSpPr>
        <p:spPr>
          <a:xfrm>
            <a:off x="640080" y="4343400"/>
            <a:ext cx="6675120" cy="777240"/>
          </a:xfrm>
          <a:prstGeom prst="roundRect">
            <a:avLst>
              <a:gd name="adj" fmla="val 11765"/>
            </a:avLst>
          </a:prstGeom>
          <a:solidFill>
            <a:srgbClr val="141B3D"/>
          </a:solidFill>
          <a:ln w="12700">
            <a:solidFill>
              <a:srgbClr val="364680"/>
            </a:solidFill>
            <a:prstDash val="solid"/>
          </a:ln>
        </p:spPr>
      </p:sp>
      <p:sp>
        <p:nvSpPr>
          <p:cNvPr id="10" name="Text 7"/>
          <p:cNvSpPr txBox="1"/>
          <p:nvPr/>
        </p:nvSpPr>
        <p:spPr>
          <a:xfrm>
            <a:off x="868680" y="4343400"/>
            <a:ext cx="6263640" cy="7772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Aplicado a la candidatura: </a:t>
            </a:r>
            <a:pPr indent="0" marL="0">
              <a:buNone/>
            </a:pPr>
            <a:r>
              <a:rPr lang="en-US" sz="1300" b="1" dirty="0">
                <a:solidFill>
                  <a:srgbClr val="FFFFFF"/>
                </a:solidFill>
                <a:latin typeface="Calibri" pitchFamily="34" charset="0"/>
                <a:ea typeface="Calibri" pitchFamily="34" charset="-122"/>
                <a:cs typeface="Calibri" pitchFamily="34" charset="-120"/>
              </a:rPr>
              <a:t>Administrativos/as – Tramitación de Ayudas a la Natalidad</a:t>
            </a:r>
            <a:endParaRPr lang="en-US" sz="1300" dirty="0"/>
          </a:p>
        </p:txBody>
      </p:sp>
      <p:sp>
        <p:nvSpPr>
          <p:cNvPr id="11" name="Text 8"/>
          <p:cNvSpPr txBox="1"/>
          <p:nvPr/>
        </p:nvSpPr>
        <p:spPr>
          <a:xfrm>
            <a:off x="640080" y="5257800"/>
            <a:ext cx="5486400" cy="365760"/>
          </a:xfrm>
          <a:prstGeom prst="rect">
            <a:avLst/>
          </a:prstGeom>
          <a:noFill/>
          <a:ln/>
        </p:spPr>
        <p:txBody>
          <a:bodyPr wrap="square" lIns="0" tIns="0" rIns="0" bIns="0" rtlCol="0" anchor="ctr"/>
          <a:lstStyle/>
          <a:p>
            <a:pPr indent="0" marL="0">
              <a:buNone/>
            </a:pPr>
            <a:r>
              <a:rPr lang="en-US" sz="1200" i="1" dirty="0">
                <a:solidFill>
                  <a:srgbClr val="6577A0"/>
                </a:solidFill>
                <a:latin typeface="Calibri" pitchFamily="34" charset="0"/>
                <a:ea typeface="Calibri" pitchFamily="34" charset="-122"/>
                <a:cs typeface="Calibri" pitchFamily="34" charset="-120"/>
              </a:rPr>
              <a:t>Tragsatec · Comunidad de Madrid</a:t>
            </a:r>
            <a:endParaRPr lang="en-US" sz="1200" dirty="0"/>
          </a:p>
        </p:txBody>
      </p:sp>
      <p:sp>
        <p:nvSpPr>
          <p:cNvPr id="12" name="Text 9"/>
          <p:cNvSpPr txBox="1"/>
          <p:nvPr/>
        </p:nvSpPr>
        <p:spPr>
          <a:xfrm>
            <a:off x="640080" y="6080760"/>
            <a:ext cx="36576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Jessica Hernández</a:t>
            </a:r>
            <a:endParaRPr lang="en-US" sz="1400" dirty="0"/>
          </a:p>
        </p:txBody>
      </p:sp>
      <p:sp>
        <p:nvSpPr>
          <p:cNvPr id="13" name="Text 10"/>
          <p:cNvSpPr txBox="1"/>
          <p:nvPr/>
        </p:nvSpPr>
        <p:spPr>
          <a:xfrm>
            <a:off x="640080" y="6355080"/>
            <a:ext cx="3657600" cy="3200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Septiembre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EFF4FD"/>
          </a:solidFill>
          <a:ln/>
        </p:spPr>
      </p:sp>
      <p:sp>
        <p:nvSpPr>
          <p:cNvPr id="3" name="Text 1"/>
          <p:cNvSpPr txBox="1"/>
          <p:nvPr/>
        </p:nvSpPr>
        <p:spPr>
          <a:xfrm>
            <a:off x="640080" y="594360"/>
            <a:ext cx="5486400" cy="82296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Índice</a:t>
            </a:r>
            <a:endParaRPr lang="en-US" sz="3400" dirty="0"/>
          </a:p>
        </p:txBody>
      </p:sp>
      <p:sp>
        <p:nvSpPr>
          <p:cNvPr id="4" name="Shape 2"/>
          <p:cNvSpPr/>
          <p:nvPr/>
        </p:nvSpPr>
        <p:spPr>
          <a:xfrm>
            <a:off x="640080" y="1783080"/>
            <a:ext cx="566928" cy="566928"/>
          </a:xfrm>
          <a:prstGeom prst="ellipse">
            <a:avLst/>
          </a:prstGeom>
          <a:solidFill>
            <a:srgbClr val="1E2761"/>
          </a:solidFill>
          <a:ln/>
        </p:spPr>
      </p:sp>
      <p:sp>
        <p:nvSpPr>
          <p:cNvPr id="5" name="Text 3"/>
          <p:cNvSpPr txBox="1"/>
          <p:nvPr/>
        </p:nvSpPr>
        <p:spPr>
          <a:xfrm>
            <a:off x="640080" y="178308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6" name="Text 4"/>
          <p:cNvSpPr txBox="1"/>
          <p:nvPr/>
        </p:nvSpPr>
        <p:spPr>
          <a:xfrm>
            <a:off x="1417320" y="1783080"/>
            <a:ext cx="5486400" cy="566928"/>
          </a:xfrm>
          <a:prstGeom prst="rect">
            <a:avLst/>
          </a:prstGeom>
          <a:noFill/>
          <a:ln/>
        </p:spPr>
        <p:txBody>
          <a:bodyPr wrap="square" lIns="0" tIns="0" rIns="0" bIns="0" rtlCol="0" anchor="ctr"/>
          <a:lstStyle/>
          <a:p>
            <a:pPr indent="0" marL="0">
              <a:buNone/>
            </a:pPr>
            <a:r>
              <a:rPr lang="en-US" sz="2000" dirty="0">
                <a:solidFill>
                  <a:srgbClr val="26304F"/>
                </a:solidFill>
                <a:latin typeface="Calibri" pitchFamily="34" charset="0"/>
                <a:ea typeface="Calibri" pitchFamily="34" charset="-122"/>
                <a:cs typeface="Calibri" pitchFamily="34" charset="-120"/>
              </a:rPr>
              <a:t>Introducción</a:t>
            </a:r>
            <a:endParaRPr lang="en-US" sz="2000" dirty="0"/>
          </a:p>
        </p:txBody>
      </p:sp>
      <p:sp>
        <p:nvSpPr>
          <p:cNvPr id="7" name="Shape 5"/>
          <p:cNvSpPr/>
          <p:nvPr/>
        </p:nvSpPr>
        <p:spPr>
          <a:xfrm>
            <a:off x="640080" y="2651760"/>
            <a:ext cx="566928" cy="566928"/>
          </a:xfrm>
          <a:prstGeom prst="ellipse">
            <a:avLst/>
          </a:prstGeom>
          <a:solidFill>
            <a:srgbClr val="1E2761"/>
          </a:solidFill>
          <a:ln/>
        </p:spPr>
      </p:sp>
      <p:sp>
        <p:nvSpPr>
          <p:cNvPr id="8" name="Text 6"/>
          <p:cNvSpPr txBox="1"/>
          <p:nvPr/>
        </p:nvSpPr>
        <p:spPr>
          <a:xfrm>
            <a:off x="640080" y="265176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9" name="Text 7"/>
          <p:cNvSpPr txBox="1"/>
          <p:nvPr/>
        </p:nvSpPr>
        <p:spPr>
          <a:xfrm>
            <a:off x="1417320" y="2651760"/>
            <a:ext cx="5486400" cy="566928"/>
          </a:xfrm>
          <a:prstGeom prst="rect">
            <a:avLst/>
          </a:prstGeom>
          <a:noFill/>
          <a:ln/>
        </p:spPr>
        <p:txBody>
          <a:bodyPr wrap="square" lIns="0" tIns="0" rIns="0" bIns="0" rtlCol="0" anchor="ctr"/>
          <a:lstStyle/>
          <a:p>
            <a:pPr indent="0" marL="0">
              <a:buNone/>
            </a:pPr>
            <a:r>
              <a:rPr lang="en-US" sz="2000" dirty="0">
                <a:solidFill>
                  <a:srgbClr val="26304F"/>
                </a:solidFill>
                <a:latin typeface="Calibri" pitchFamily="34" charset="0"/>
                <a:ea typeface="Calibri" pitchFamily="34" charset="-122"/>
                <a:cs typeface="Calibri" pitchFamily="34" charset="-120"/>
              </a:rPr>
              <a:t>Objetivos</a:t>
            </a:r>
            <a:endParaRPr lang="en-US" sz="2000" dirty="0"/>
          </a:p>
        </p:txBody>
      </p:sp>
      <p:sp>
        <p:nvSpPr>
          <p:cNvPr id="10" name="Shape 8"/>
          <p:cNvSpPr/>
          <p:nvPr/>
        </p:nvSpPr>
        <p:spPr>
          <a:xfrm>
            <a:off x="640080" y="3520440"/>
            <a:ext cx="566928" cy="566928"/>
          </a:xfrm>
          <a:prstGeom prst="ellipse">
            <a:avLst/>
          </a:prstGeom>
          <a:solidFill>
            <a:srgbClr val="1E2761"/>
          </a:solidFill>
          <a:ln/>
        </p:spPr>
      </p:sp>
      <p:sp>
        <p:nvSpPr>
          <p:cNvPr id="11" name="Text 9"/>
          <p:cNvSpPr txBox="1"/>
          <p:nvPr/>
        </p:nvSpPr>
        <p:spPr>
          <a:xfrm>
            <a:off x="640080" y="352044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2" name="Text 10"/>
          <p:cNvSpPr txBox="1"/>
          <p:nvPr/>
        </p:nvSpPr>
        <p:spPr>
          <a:xfrm>
            <a:off x="1417320" y="3520440"/>
            <a:ext cx="5486400" cy="566928"/>
          </a:xfrm>
          <a:prstGeom prst="rect">
            <a:avLst/>
          </a:prstGeom>
          <a:noFill/>
          <a:ln/>
        </p:spPr>
        <p:txBody>
          <a:bodyPr wrap="square" lIns="0" tIns="0" rIns="0" bIns="0" rtlCol="0" anchor="ctr"/>
          <a:lstStyle/>
          <a:p>
            <a:pPr indent="0" marL="0">
              <a:buNone/>
            </a:pPr>
            <a:r>
              <a:rPr lang="en-US" sz="2000" dirty="0">
                <a:solidFill>
                  <a:srgbClr val="26304F"/>
                </a:solidFill>
                <a:latin typeface="Calibri" pitchFamily="34" charset="0"/>
                <a:ea typeface="Calibri" pitchFamily="34" charset="-122"/>
                <a:cs typeface="Calibri" pitchFamily="34" charset="-120"/>
              </a:rPr>
              <a:t>Fuentes de datos</a:t>
            </a:r>
            <a:endParaRPr lang="en-US" sz="2000" dirty="0"/>
          </a:p>
        </p:txBody>
      </p:sp>
      <p:sp>
        <p:nvSpPr>
          <p:cNvPr id="13" name="Shape 11"/>
          <p:cNvSpPr/>
          <p:nvPr/>
        </p:nvSpPr>
        <p:spPr>
          <a:xfrm>
            <a:off x="640080" y="4389120"/>
            <a:ext cx="566928" cy="566928"/>
          </a:xfrm>
          <a:prstGeom prst="ellipse">
            <a:avLst/>
          </a:prstGeom>
          <a:solidFill>
            <a:srgbClr val="6FA8DC"/>
          </a:solidFill>
          <a:ln/>
        </p:spPr>
      </p:sp>
      <p:sp>
        <p:nvSpPr>
          <p:cNvPr id="14" name="Text 12"/>
          <p:cNvSpPr txBox="1"/>
          <p:nvPr/>
        </p:nvSpPr>
        <p:spPr>
          <a:xfrm>
            <a:off x="640080" y="438912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15" name="Text 13"/>
          <p:cNvSpPr txBox="1"/>
          <p:nvPr/>
        </p:nvSpPr>
        <p:spPr>
          <a:xfrm>
            <a:off x="1417320" y="4389120"/>
            <a:ext cx="5486400" cy="566928"/>
          </a:xfrm>
          <a:prstGeom prst="rect">
            <a:avLst/>
          </a:prstGeom>
          <a:noFill/>
          <a:ln/>
        </p:spPr>
        <p:txBody>
          <a:bodyPr wrap="square" lIns="0" tIns="0" rIns="0" bIns="0" rtlCol="0" anchor="ctr"/>
          <a:lstStyle/>
          <a:p>
            <a:pPr indent="0" marL="0">
              <a:buNone/>
            </a:pPr>
            <a:r>
              <a:rPr lang="en-US" sz="2000" dirty="0">
                <a:solidFill>
                  <a:srgbClr val="26304F"/>
                </a:solidFill>
                <a:latin typeface="Calibri" pitchFamily="34" charset="0"/>
                <a:ea typeface="Calibri" pitchFamily="34" charset="-122"/>
                <a:cs typeface="Calibri" pitchFamily="34" charset="-120"/>
              </a:rPr>
              <a:t>Desarrollo y resultados</a:t>
            </a:r>
            <a:endParaRPr lang="en-US" sz="2000" dirty="0"/>
          </a:p>
        </p:txBody>
      </p:sp>
      <p:sp>
        <p:nvSpPr>
          <p:cNvPr id="16" name="Shape 14"/>
          <p:cNvSpPr/>
          <p:nvPr/>
        </p:nvSpPr>
        <p:spPr>
          <a:xfrm>
            <a:off x="640080" y="5257800"/>
            <a:ext cx="566928" cy="566928"/>
          </a:xfrm>
          <a:prstGeom prst="ellipse">
            <a:avLst/>
          </a:prstGeom>
          <a:solidFill>
            <a:srgbClr val="1E2761"/>
          </a:solidFill>
          <a:ln/>
        </p:spPr>
      </p:sp>
      <p:sp>
        <p:nvSpPr>
          <p:cNvPr id="17" name="Text 15"/>
          <p:cNvSpPr txBox="1"/>
          <p:nvPr/>
        </p:nvSpPr>
        <p:spPr>
          <a:xfrm>
            <a:off x="640080" y="52578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18" name="Text 16"/>
          <p:cNvSpPr txBox="1"/>
          <p:nvPr/>
        </p:nvSpPr>
        <p:spPr>
          <a:xfrm>
            <a:off x="1417320" y="5257800"/>
            <a:ext cx="5486400" cy="566928"/>
          </a:xfrm>
          <a:prstGeom prst="rect">
            <a:avLst/>
          </a:prstGeom>
          <a:noFill/>
          <a:ln/>
        </p:spPr>
        <p:txBody>
          <a:bodyPr wrap="square" lIns="0" tIns="0" rIns="0" bIns="0" rtlCol="0" anchor="ctr"/>
          <a:lstStyle/>
          <a:p>
            <a:pPr indent="0" marL="0">
              <a:buNone/>
            </a:pPr>
            <a:r>
              <a:rPr lang="en-US" sz="2000" dirty="0">
                <a:solidFill>
                  <a:srgbClr val="26304F"/>
                </a:solidFill>
                <a:latin typeface="Calibri" pitchFamily="34" charset="0"/>
                <a:ea typeface="Calibri" pitchFamily="34" charset="-122"/>
                <a:cs typeface="Calibri" pitchFamily="34" charset="-120"/>
              </a:rPr>
              <a:t>Conclusiones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8640"/>
            <a:ext cx="3749040" cy="5760720"/>
          </a:xfrm>
          <a:prstGeom prst="roundRect">
            <a:avLst>
              <a:gd name="adj" fmla="val 3902"/>
            </a:avLst>
          </a:prstGeom>
          <a:solidFill>
            <a:srgbClr val="1E2761"/>
          </a:solidFill>
          <a:ln/>
          <a:effectLst>
            <a:outerShdw sx="100000" sy="100000" kx="0" ky="0" algn="bl" rotWithShape="0" blurRad="177800" dist="38100" dir="5400000">
              <a:srgbClr val="1E2761">
                <a:alpha val="12000"/>
              </a:srgbClr>
            </a:outerShdw>
          </a:effectLst>
        </p:spPr>
      </p:sp>
      <p:sp>
        <p:nvSpPr>
          <p:cNvPr id="3" name="Shape 1"/>
          <p:cNvSpPr/>
          <p:nvPr/>
        </p:nvSpPr>
        <p:spPr>
          <a:xfrm>
            <a:off x="868680" y="868680"/>
            <a:ext cx="594360" cy="594360"/>
          </a:xfrm>
          <a:prstGeom prst="ellipse">
            <a:avLst/>
          </a:prstGeom>
          <a:solidFill>
            <a:srgbClr val="6FA8DC"/>
          </a:solidFill>
          <a:ln/>
          <a:effectLst>
            <a:outerShdw sx="100000" sy="100000" kx="0" ky="0" algn="bl" rotWithShape="0" blurRad="76200" dist="25400" dir="5400000">
              <a:srgbClr val="0B0F26">
                <a:alpha val="25000"/>
              </a:srgbClr>
            </a:outerShdw>
          </a:effectLst>
        </p:spPr>
      </p:sp>
      <p:pic>
        <p:nvPicPr>
          <p:cNvPr id="4" name="Image 0" descr="/home/claude/ppt_review/icons/intro.png">    </p:cNvPr>
          <p:cNvPicPr>
            <a:picLocks noChangeAspect="1"/>
          </p:cNvPicPr>
          <p:nvPr/>
        </p:nvPicPr>
        <p:blipFill>
          <a:blip r:embed="rId1"/>
          <a:stretch>
            <a:fillRect/>
          </a:stretch>
        </p:blipFill>
        <p:spPr>
          <a:xfrm>
            <a:off x="993496" y="993496"/>
            <a:ext cx="344729" cy="344729"/>
          </a:xfrm>
          <a:prstGeom prst="rect">
            <a:avLst/>
          </a:prstGeom>
        </p:spPr>
      </p:pic>
      <p:sp>
        <p:nvSpPr>
          <p:cNvPr id="5" name="Text 2"/>
          <p:cNvSpPr txBox="1"/>
          <p:nvPr/>
        </p:nvSpPr>
        <p:spPr>
          <a:xfrm>
            <a:off x="868680" y="1600200"/>
            <a:ext cx="310896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Introducción</a:t>
            </a:r>
            <a:endParaRPr lang="en-US" sz="2200" dirty="0"/>
          </a:p>
        </p:txBody>
      </p:sp>
      <p:sp>
        <p:nvSpPr>
          <p:cNvPr id="6" name="Shape 3"/>
          <p:cNvSpPr/>
          <p:nvPr/>
        </p:nvSpPr>
        <p:spPr>
          <a:xfrm>
            <a:off x="868680" y="4206240"/>
            <a:ext cx="3108960" cy="1737360"/>
          </a:xfrm>
          <a:prstGeom prst="roundRect">
            <a:avLst>
              <a:gd name="adj" fmla="val 6316"/>
            </a:avLst>
          </a:prstGeom>
          <a:solidFill>
            <a:srgbClr val="6FA8DC"/>
          </a:solidFill>
          <a:ln/>
        </p:spPr>
      </p:sp>
      <p:sp>
        <p:nvSpPr>
          <p:cNvPr id="7" name="Text 4"/>
          <p:cNvSpPr txBox="1"/>
          <p:nvPr/>
        </p:nvSpPr>
        <p:spPr>
          <a:xfrm>
            <a:off x="1097280" y="4343400"/>
            <a:ext cx="265176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500 €/mes</a:t>
            </a:r>
            <a:endParaRPr lang="en-US" sz="3000" dirty="0"/>
          </a:p>
        </p:txBody>
      </p:sp>
      <p:sp>
        <p:nvSpPr>
          <p:cNvPr id="8" name="Text 5"/>
          <p:cNvSpPr txBox="1"/>
          <p:nvPr/>
        </p:nvSpPr>
        <p:spPr>
          <a:xfrm>
            <a:off x="1097280" y="4983480"/>
            <a:ext cx="2651760" cy="8686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durante 24 meses — Ayuda económica a la natalidad de la Comunidad de Madrid</a:t>
            </a:r>
            <a:endParaRPr lang="en-US" sz="1200" dirty="0"/>
          </a:p>
        </p:txBody>
      </p:sp>
      <p:sp>
        <p:nvSpPr>
          <p:cNvPr id="9" name="Text 6"/>
          <p:cNvSpPr txBox="1"/>
          <p:nvPr/>
        </p:nvSpPr>
        <p:spPr>
          <a:xfrm>
            <a:off x="4663440" y="777240"/>
            <a:ext cx="6858000" cy="2743200"/>
          </a:xfrm>
          <a:prstGeom prst="rect">
            <a:avLst/>
          </a:prstGeom>
          <a:noFill/>
          <a:ln/>
        </p:spPr>
        <p:txBody>
          <a:bodyPr wrap="square" lIns="0" tIns="0" rIns="0" bIns="0" rtlCol="0" anchor="t"/>
          <a:lstStyle/>
          <a:p>
            <a:pPr indent="0" marL="0">
              <a:lnSpc>
                <a:spcPts val="2200"/>
              </a:lnSpc>
              <a:buNone/>
            </a:pPr>
            <a:r>
              <a:rPr lang="en-US" sz="1500" dirty="0">
                <a:solidFill>
                  <a:srgbClr val="26304F"/>
                </a:solidFill>
                <a:latin typeface="Calibri" pitchFamily="34" charset="0"/>
                <a:ea typeface="Calibri" pitchFamily="34" charset="-122"/>
                <a:cs typeface="Calibri" pitchFamily="34" charset="-120"/>
              </a:rPr>
              <a:t>La Comunidad de Madrid gestiona, a través de </a:t>
            </a:r>
            <a:pPr indent="0" marL="0">
              <a:lnSpc>
                <a:spcPts val="2200"/>
              </a:lnSpc>
              <a:buNone/>
            </a:pPr>
            <a:r>
              <a:rPr lang="en-US" sz="1500" b="1" dirty="0">
                <a:solidFill>
                  <a:srgbClr val="1E2761"/>
                </a:solidFill>
                <a:latin typeface="Calibri" pitchFamily="34" charset="0"/>
                <a:ea typeface="Calibri" pitchFamily="34" charset="-122"/>
                <a:cs typeface="Calibri" pitchFamily="34" charset="-120"/>
              </a:rPr>
              <a:t>Tragsatec</a:t>
            </a:r>
            <a:pPr indent="0" marL="0">
              <a:lnSpc>
                <a:spcPts val="2200"/>
              </a:lnSpc>
              <a:buNone/>
            </a:pPr>
            <a:r>
              <a:rPr lang="en-US" sz="1500" dirty="0">
                <a:solidFill>
                  <a:srgbClr val="26304F"/>
                </a:solidFill>
                <a:latin typeface="Calibri" pitchFamily="34" charset="0"/>
                <a:ea typeface="Calibri" pitchFamily="34" charset="-122"/>
                <a:cs typeface="Calibri" pitchFamily="34" charset="-120"/>
              </a:rPr>
              <a:t>, la tramitación de la </a:t>
            </a:r>
            <a:pPr indent="0" marL="0">
              <a:lnSpc>
                <a:spcPts val="2200"/>
              </a:lnSpc>
              <a:buNone/>
            </a:pPr>
            <a:r>
              <a:rPr lang="en-US" sz="1500" b="1" dirty="0">
                <a:solidFill>
                  <a:srgbClr val="1E2761"/>
                </a:solidFill>
                <a:latin typeface="Calibri" pitchFamily="34" charset="0"/>
                <a:ea typeface="Calibri" pitchFamily="34" charset="-122"/>
                <a:cs typeface="Calibri" pitchFamily="34" charset="-120"/>
              </a:rPr>
              <a:t>Ayuda económica a la natalidad</a:t>
            </a:r>
            <a:pPr indent="0" marL="0">
              <a:lnSpc>
                <a:spcPts val="2200"/>
              </a:lnSpc>
              <a:buNone/>
            </a:pPr>
            <a:r>
              <a:rPr lang="en-US" sz="1500" dirty="0">
                <a:solidFill>
                  <a:srgbClr val="26304F"/>
                </a:solidFill>
                <a:latin typeface="Calibri" pitchFamily="34" charset="0"/>
                <a:ea typeface="Calibri" pitchFamily="34" charset="-122"/>
                <a:cs typeface="Calibri" pitchFamily="34" charset="-120"/>
              </a:rPr>
              <a:t>, dirigida a gestantes y madres o padres con hijos menores de 24 meses, con requisitos de edad (hasta 30 años), empadronamiento (mínimo 5 de los últimos 10 años en la Comunidad de Madrid) y renta (hasta 30.000 €/año individual o 36.200 €/año conjunta).</a:t>
            </a:r>
            <a:endParaRPr lang="en-US" sz="1500" dirty="0"/>
          </a:p>
        </p:txBody>
      </p:sp>
      <p:sp>
        <p:nvSpPr>
          <p:cNvPr id="10" name="Text 7"/>
          <p:cNvSpPr txBox="1"/>
          <p:nvPr/>
        </p:nvSpPr>
        <p:spPr>
          <a:xfrm>
            <a:off x="4663440" y="3703320"/>
            <a:ext cx="6858000" cy="2194560"/>
          </a:xfrm>
          <a:prstGeom prst="rect">
            <a:avLst/>
          </a:prstGeom>
          <a:noFill/>
          <a:ln/>
        </p:spPr>
        <p:txBody>
          <a:bodyPr wrap="square" lIns="0" tIns="0" rIns="0" bIns="0" rtlCol="0" anchor="t"/>
          <a:lstStyle/>
          <a:p>
            <a:pPr indent="0" marL="0">
              <a:lnSpc>
                <a:spcPts val="2200"/>
              </a:lnSpc>
              <a:buNone/>
            </a:pPr>
            <a:r>
              <a:rPr lang="en-US" sz="1500" dirty="0">
                <a:solidFill>
                  <a:srgbClr val="26304F"/>
                </a:solidFill>
                <a:latin typeface="Calibri" pitchFamily="34" charset="0"/>
                <a:ea typeface="Calibri" pitchFamily="34" charset="-122"/>
                <a:cs typeface="Calibri" pitchFamily="34" charset="-120"/>
              </a:rPr>
              <a:t>Este análisis explora la evolución de la natalidad en la región durante las últimas cuatro décadas, con el objetivo de entender mejor el contexto demográfico en el que se enmarca esta ayuda: cómo ha cambiado el número de nacimientos, el perfil de edad de las madres, su distribución geográfica y su origen.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Objetivos</a:t>
            </a:r>
            <a:endParaRPr lang="en-US" sz="3200" dirty="0"/>
          </a:p>
        </p:txBody>
      </p:sp>
      <p:sp>
        <p:nvSpPr>
          <p:cNvPr id="3" name="Shape 1"/>
          <p:cNvSpPr/>
          <p:nvPr/>
        </p:nvSpPr>
        <p:spPr>
          <a:xfrm>
            <a:off x="640080" y="1417320"/>
            <a:ext cx="5349240" cy="2331720"/>
          </a:xfrm>
          <a:prstGeom prst="roundRect">
            <a:avLst>
              <a:gd name="adj" fmla="val 4706"/>
            </a:avLst>
          </a:prstGeom>
          <a:solidFill>
            <a:srgbClr val="EFF4FD"/>
          </a:solidFill>
          <a:ln/>
          <a:effectLst>
            <a:outerShdw sx="100000" sy="100000" kx="0" ky="0" algn="bl" rotWithShape="0" blurRad="177800" dist="38100" dir="5400000">
              <a:srgbClr val="1E2761">
                <a:alpha val="12000"/>
              </a:srgbClr>
            </a:outerShdw>
          </a:effectLst>
        </p:spPr>
      </p:sp>
      <p:sp>
        <p:nvSpPr>
          <p:cNvPr id="4" name="Shape 2"/>
          <p:cNvSpPr/>
          <p:nvPr/>
        </p:nvSpPr>
        <p:spPr>
          <a:xfrm>
            <a:off x="914400" y="1691640"/>
            <a:ext cx="548640" cy="54864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5" name="Image 0" descr="/home/claude/ppt_review/icons/obj_tasa.png">    </p:cNvPr>
          <p:cNvPicPr>
            <a:picLocks noChangeAspect="1"/>
          </p:cNvPicPr>
          <p:nvPr/>
        </p:nvPicPr>
        <p:blipFill>
          <a:blip r:embed="rId1"/>
          <a:stretch>
            <a:fillRect/>
          </a:stretch>
        </p:blipFill>
        <p:spPr>
          <a:xfrm>
            <a:off x="1029614" y="1806854"/>
            <a:ext cx="318211" cy="318211"/>
          </a:xfrm>
          <a:prstGeom prst="rect">
            <a:avLst/>
          </a:prstGeom>
        </p:spPr>
      </p:pic>
      <p:sp>
        <p:nvSpPr>
          <p:cNvPr id="6" name="Text 3"/>
          <p:cNvSpPr txBox="1"/>
          <p:nvPr/>
        </p:nvSpPr>
        <p:spPr>
          <a:xfrm>
            <a:off x="1645920" y="1709928"/>
            <a:ext cx="4069080" cy="5029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Evolución de la natalidad</a:t>
            </a:r>
            <a:endParaRPr lang="en-US" sz="1600" dirty="0"/>
          </a:p>
        </p:txBody>
      </p:sp>
      <p:sp>
        <p:nvSpPr>
          <p:cNvPr id="7" name="Text 4"/>
          <p:cNvSpPr txBox="1"/>
          <p:nvPr/>
        </p:nvSpPr>
        <p:spPr>
          <a:xfrm>
            <a:off x="914400" y="2377440"/>
            <a:ext cx="4800600" cy="1143000"/>
          </a:xfrm>
          <a:prstGeom prst="rect">
            <a:avLst/>
          </a:prstGeom>
          <a:noFill/>
          <a:ln/>
        </p:spPr>
        <p:txBody>
          <a:bodyPr wrap="square" lIns="0" tIns="0" rIns="0" bIns="0" rtlCol="0" anchor="t"/>
          <a:lstStyle/>
          <a:p>
            <a:pPr indent="0" marL="0">
              <a:lnSpc>
                <a:spcPts val="1700"/>
              </a:lnSpc>
              <a:buNone/>
            </a:pPr>
            <a:r>
              <a:rPr lang="en-US" sz="1250" dirty="0">
                <a:solidFill>
                  <a:srgbClr val="26304F"/>
                </a:solidFill>
                <a:latin typeface="Calibri" pitchFamily="34" charset="0"/>
                <a:ea typeface="Calibri" pitchFamily="34" charset="-122"/>
                <a:cs typeface="Calibri" pitchFamily="34" charset="-120"/>
              </a:rPr>
              <a:t>Analizar la tasa de natalidad y la edad media de la madre en la Comunidad de Madrid entre 1985 y 2024.</a:t>
            </a:r>
            <a:endParaRPr lang="en-US" sz="1250" dirty="0"/>
          </a:p>
        </p:txBody>
      </p:sp>
      <p:sp>
        <p:nvSpPr>
          <p:cNvPr id="8" name="Shape 5"/>
          <p:cNvSpPr/>
          <p:nvPr/>
        </p:nvSpPr>
        <p:spPr>
          <a:xfrm>
            <a:off x="6355080" y="1417320"/>
            <a:ext cx="5349240" cy="2331720"/>
          </a:xfrm>
          <a:prstGeom prst="roundRect">
            <a:avLst>
              <a:gd name="adj" fmla="val 4706"/>
            </a:avLst>
          </a:prstGeom>
          <a:solidFill>
            <a:srgbClr val="EFF4FD"/>
          </a:solidFill>
          <a:ln/>
          <a:effectLst>
            <a:outerShdw sx="100000" sy="100000" kx="0" ky="0" algn="bl" rotWithShape="0" blurRad="177800" dist="38100" dir="5400000">
              <a:srgbClr val="1E2761">
                <a:alpha val="12000"/>
              </a:srgbClr>
            </a:outerShdw>
          </a:effectLst>
        </p:spPr>
      </p:sp>
      <p:sp>
        <p:nvSpPr>
          <p:cNvPr id="9" name="Shape 6"/>
          <p:cNvSpPr/>
          <p:nvPr/>
        </p:nvSpPr>
        <p:spPr>
          <a:xfrm>
            <a:off x="6629400" y="1691640"/>
            <a:ext cx="548640" cy="54864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10" name="Image 1" descr="/home/claude/ppt_review/icons/obj_muni.png">    </p:cNvPr>
          <p:cNvPicPr>
            <a:picLocks noChangeAspect="1"/>
          </p:cNvPicPr>
          <p:nvPr/>
        </p:nvPicPr>
        <p:blipFill>
          <a:blip r:embed="rId2"/>
          <a:stretch>
            <a:fillRect/>
          </a:stretch>
        </p:blipFill>
        <p:spPr>
          <a:xfrm>
            <a:off x="6744614" y="1806854"/>
            <a:ext cx="318211" cy="318211"/>
          </a:xfrm>
          <a:prstGeom prst="rect">
            <a:avLst/>
          </a:prstGeom>
        </p:spPr>
      </p:pic>
      <p:sp>
        <p:nvSpPr>
          <p:cNvPr id="11" name="Text 7"/>
          <p:cNvSpPr txBox="1"/>
          <p:nvPr/>
        </p:nvSpPr>
        <p:spPr>
          <a:xfrm>
            <a:off x="7360920" y="1709928"/>
            <a:ext cx="4069080" cy="5029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Municipios clave</a:t>
            </a:r>
            <a:endParaRPr lang="en-US" sz="1600" dirty="0"/>
          </a:p>
        </p:txBody>
      </p:sp>
      <p:sp>
        <p:nvSpPr>
          <p:cNvPr id="12" name="Text 8"/>
          <p:cNvSpPr txBox="1"/>
          <p:nvPr/>
        </p:nvSpPr>
        <p:spPr>
          <a:xfrm>
            <a:off x="6629400" y="2377440"/>
            <a:ext cx="4800600" cy="1143000"/>
          </a:xfrm>
          <a:prstGeom prst="rect">
            <a:avLst/>
          </a:prstGeom>
          <a:noFill/>
          <a:ln/>
        </p:spPr>
        <p:txBody>
          <a:bodyPr wrap="square" lIns="0" tIns="0" rIns="0" bIns="0" rtlCol="0" anchor="t"/>
          <a:lstStyle/>
          <a:p>
            <a:pPr indent="0" marL="0">
              <a:lnSpc>
                <a:spcPts val="1700"/>
              </a:lnSpc>
              <a:buNone/>
            </a:pPr>
            <a:r>
              <a:rPr lang="en-US" sz="1250" dirty="0">
                <a:solidFill>
                  <a:srgbClr val="26304F"/>
                </a:solidFill>
                <a:latin typeface="Calibri" pitchFamily="34" charset="0"/>
                <a:ea typeface="Calibri" pitchFamily="34" charset="-122"/>
                <a:cs typeface="Calibri" pitchFamily="34" charset="-120"/>
              </a:rPr>
              <a:t>Identificar los municipios con mayor número de nacimientos de madres jóvenes, perfil ajustado a la ayuda.</a:t>
            </a:r>
            <a:endParaRPr lang="en-US" sz="1250" dirty="0"/>
          </a:p>
        </p:txBody>
      </p:sp>
      <p:sp>
        <p:nvSpPr>
          <p:cNvPr id="13" name="Shape 9"/>
          <p:cNvSpPr/>
          <p:nvPr/>
        </p:nvSpPr>
        <p:spPr>
          <a:xfrm>
            <a:off x="640080" y="4069080"/>
            <a:ext cx="5349240" cy="2331720"/>
          </a:xfrm>
          <a:prstGeom prst="roundRect">
            <a:avLst>
              <a:gd name="adj" fmla="val 4706"/>
            </a:avLst>
          </a:prstGeom>
          <a:solidFill>
            <a:srgbClr val="EFF4FD"/>
          </a:solidFill>
          <a:ln/>
          <a:effectLst>
            <a:outerShdw sx="100000" sy="100000" kx="0" ky="0" algn="bl" rotWithShape="0" blurRad="177800" dist="38100" dir="5400000">
              <a:srgbClr val="1E2761">
                <a:alpha val="12000"/>
              </a:srgbClr>
            </a:outerShdw>
          </a:effectLst>
        </p:spPr>
      </p:sp>
      <p:sp>
        <p:nvSpPr>
          <p:cNvPr id="14" name="Shape 10"/>
          <p:cNvSpPr/>
          <p:nvPr/>
        </p:nvSpPr>
        <p:spPr>
          <a:xfrm>
            <a:off x="914400" y="4343400"/>
            <a:ext cx="548640" cy="54864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15" name="Image 2" descr="/home/claude/ppt_review/icons/obj_glob.png">    </p:cNvPr>
          <p:cNvPicPr>
            <a:picLocks noChangeAspect="1"/>
          </p:cNvPicPr>
          <p:nvPr/>
        </p:nvPicPr>
        <p:blipFill>
          <a:blip r:embed="rId3"/>
          <a:stretch>
            <a:fillRect/>
          </a:stretch>
        </p:blipFill>
        <p:spPr>
          <a:xfrm>
            <a:off x="1029614" y="4458614"/>
            <a:ext cx="318211" cy="318211"/>
          </a:xfrm>
          <a:prstGeom prst="rect">
            <a:avLst/>
          </a:prstGeom>
        </p:spPr>
      </p:pic>
      <p:sp>
        <p:nvSpPr>
          <p:cNvPr id="16" name="Text 11"/>
          <p:cNvSpPr txBox="1"/>
          <p:nvPr/>
        </p:nvSpPr>
        <p:spPr>
          <a:xfrm>
            <a:off x="1645920" y="4361688"/>
            <a:ext cx="4069080" cy="5029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Origen de las madres</a:t>
            </a:r>
            <a:endParaRPr lang="en-US" sz="1600" dirty="0"/>
          </a:p>
        </p:txBody>
      </p:sp>
      <p:sp>
        <p:nvSpPr>
          <p:cNvPr id="17" name="Text 12"/>
          <p:cNvSpPr txBox="1"/>
          <p:nvPr/>
        </p:nvSpPr>
        <p:spPr>
          <a:xfrm>
            <a:off x="914400" y="5029200"/>
            <a:ext cx="4800600" cy="1143000"/>
          </a:xfrm>
          <a:prstGeom prst="rect">
            <a:avLst/>
          </a:prstGeom>
          <a:noFill/>
          <a:ln/>
        </p:spPr>
        <p:txBody>
          <a:bodyPr wrap="square" lIns="0" tIns="0" rIns="0" bIns="0" rtlCol="0" anchor="t"/>
          <a:lstStyle/>
          <a:p>
            <a:pPr indent="0" marL="0">
              <a:lnSpc>
                <a:spcPts val="1700"/>
              </a:lnSpc>
              <a:buNone/>
            </a:pPr>
            <a:r>
              <a:rPr lang="en-US" sz="1250" dirty="0">
                <a:solidFill>
                  <a:srgbClr val="26304F"/>
                </a:solidFill>
                <a:latin typeface="Calibri" pitchFamily="34" charset="0"/>
                <a:ea typeface="Calibri" pitchFamily="34" charset="-122"/>
                <a:cs typeface="Calibri" pitchFamily="34" charset="-120"/>
              </a:rPr>
              <a:t>Estudiar el peso y la evolución de los nacimientos de madres de origen extranjero en la región.</a:t>
            </a:r>
            <a:endParaRPr lang="en-US" sz="1250" dirty="0"/>
          </a:p>
        </p:txBody>
      </p:sp>
      <p:sp>
        <p:nvSpPr>
          <p:cNvPr id="18" name="Shape 13"/>
          <p:cNvSpPr/>
          <p:nvPr/>
        </p:nvSpPr>
        <p:spPr>
          <a:xfrm>
            <a:off x="6355080" y="4069080"/>
            <a:ext cx="5349240" cy="2331720"/>
          </a:xfrm>
          <a:prstGeom prst="roundRect">
            <a:avLst>
              <a:gd name="adj" fmla="val 4706"/>
            </a:avLst>
          </a:prstGeom>
          <a:solidFill>
            <a:srgbClr val="EFF4FD"/>
          </a:solidFill>
          <a:ln/>
          <a:effectLst>
            <a:outerShdw sx="100000" sy="100000" kx="0" ky="0" algn="bl" rotWithShape="0" blurRad="177800" dist="38100" dir="5400000">
              <a:srgbClr val="1E2761">
                <a:alpha val="12000"/>
              </a:srgbClr>
            </a:outerShdw>
          </a:effectLst>
        </p:spPr>
      </p:sp>
      <p:sp>
        <p:nvSpPr>
          <p:cNvPr id="19" name="Shape 14"/>
          <p:cNvSpPr/>
          <p:nvPr/>
        </p:nvSpPr>
        <p:spPr>
          <a:xfrm>
            <a:off x="6629400" y="4343400"/>
            <a:ext cx="548640" cy="54864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20" name="Image 3" descr="/home/claude/ppt_review/icons/obj_bulb.png">    </p:cNvPr>
          <p:cNvPicPr>
            <a:picLocks noChangeAspect="1"/>
          </p:cNvPicPr>
          <p:nvPr/>
        </p:nvPicPr>
        <p:blipFill>
          <a:blip r:embed="rId4"/>
          <a:stretch>
            <a:fillRect/>
          </a:stretch>
        </p:blipFill>
        <p:spPr>
          <a:xfrm>
            <a:off x="6744614" y="4458614"/>
            <a:ext cx="318211" cy="318211"/>
          </a:xfrm>
          <a:prstGeom prst="rect">
            <a:avLst/>
          </a:prstGeom>
        </p:spPr>
      </p:pic>
      <p:sp>
        <p:nvSpPr>
          <p:cNvPr id="21" name="Text 15"/>
          <p:cNvSpPr txBox="1"/>
          <p:nvPr/>
        </p:nvSpPr>
        <p:spPr>
          <a:xfrm>
            <a:off x="7360920" y="4361688"/>
            <a:ext cx="4069080" cy="5029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Contexto para la gestión</a:t>
            </a:r>
            <a:endParaRPr lang="en-US" sz="1600" dirty="0"/>
          </a:p>
        </p:txBody>
      </p:sp>
      <p:sp>
        <p:nvSpPr>
          <p:cNvPr id="22" name="Text 16"/>
          <p:cNvSpPr txBox="1"/>
          <p:nvPr/>
        </p:nvSpPr>
        <p:spPr>
          <a:xfrm>
            <a:off x="6629400" y="5029200"/>
            <a:ext cx="4800600" cy="1143000"/>
          </a:xfrm>
          <a:prstGeom prst="rect">
            <a:avLst/>
          </a:prstGeom>
          <a:noFill/>
          <a:ln/>
        </p:spPr>
        <p:txBody>
          <a:bodyPr wrap="square" lIns="0" tIns="0" rIns="0" bIns="0" rtlCol="0" anchor="t"/>
          <a:lstStyle/>
          <a:p>
            <a:pPr indent="0" marL="0">
              <a:lnSpc>
                <a:spcPts val="1700"/>
              </a:lnSpc>
              <a:buNone/>
            </a:pPr>
            <a:r>
              <a:rPr lang="en-US" sz="1250" dirty="0">
                <a:solidFill>
                  <a:srgbClr val="26304F"/>
                </a:solidFill>
                <a:latin typeface="Calibri" pitchFamily="34" charset="0"/>
                <a:ea typeface="Calibri" pitchFamily="34" charset="-122"/>
                <a:cs typeface="Calibri" pitchFamily="34" charset="-120"/>
              </a:rPr>
              <a:t>Aportar un contexto basado en datos que ayude a comprender mejor la población destinataria.</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457200" cy="45720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3" name="Image 0" descr="/home/claude/ppt_review/icons/fuentes.png">    </p:cNvPr>
          <p:cNvPicPr>
            <a:picLocks noChangeAspect="1"/>
          </p:cNvPicPr>
          <p:nvPr/>
        </p:nvPicPr>
        <p:blipFill>
          <a:blip r:embed="rId1"/>
          <a:stretch>
            <a:fillRect/>
          </a:stretch>
        </p:blipFill>
        <p:spPr>
          <a:xfrm>
            <a:off x="736092" y="644652"/>
            <a:ext cx="265176" cy="265176"/>
          </a:xfrm>
          <a:prstGeom prst="rect">
            <a:avLst/>
          </a:prstGeom>
        </p:spPr>
      </p:pic>
      <p:sp>
        <p:nvSpPr>
          <p:cNvPr id="4" name="Text 1"/>
          <p:cNvSpPr txBox="1"/>
          <p:nvPr/>
        </p:nvSpPr>
        <p:spPr>
          <a:xfrm>
            <a:off x="1234440" y="548640"/>
            <a:ext cx="4114800" cy="457200"/>
          </a:xfrm>
          <a:prstGeom prst="rect">
            <a:avLst/>
          </a:prstGeom>
          <a:noFill/>
          <a:ln/>
        </p:spPr>
        <p:txBody>
          <a:bodyPr wrap="square" lIns="0" tIns="0" rIns="0" bIns="0" rtlCol="0" anchor="ctr"/>
          <a:lstStyle/>
          <a:p>
            <a:pPr indent="0" marL="0">
              <a:buNone/>
            </a:pPr>
            <a:r>
              <a:rPr lang="en-US" sz="1200" b="1" spc="200" kern="0" dirty="0">
                <a:solidFill>
                  <a:srgbClr val="6FA8DC"/>
                </a:solidFill>
                <a:latin typeface="Calibri" pitchFamily="34" charset="0"/>
                <a:ea typeface="Calibri" pitchFamily="34" charset="-122"/>
                <a:cs typeface="Calibri" pitchFamily="34" charset="-120"/>
              </a:rPr>
              <a:t>METODOLOGÍA</a:t>
            </a:r>
            <a:endParaRPr lang="en-US" sz="1200" dirty="0"/>
          </a:p>
        </p:txBody>
      </p:sp>
      <p:sp>
        <p:nvSpPr>
          <p:cNvPr id="5" name="Text 2"/>
          <p:cNvSpPr txBox="1"/>
          <p:nvPr/>
        </p:nvSpPr>
        <p:spPr>
          <a:xfrm>
            <a:off x="640080" y="1143000"/>
            <a:ext cx="73152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Fuentes de datos</a:t>
            </a:r>
            <a:endParaRPr lang="en-US" sz="3000" dirty="0"/>
          </a:p>
        </p:txBody>
      </p:sp>
      <p:sp>
        <p:nvSpPr>
          <p:cNvPr id="6" name="Text 3"/>
          <p:cNvSpPr txBox="1"/>
          <p:nvPr/>
        </p:nvSpPr>
        <p:spPr>
          <a:xfrm>
            <a:off x="640080" y="1828800"/>
            <a:ext cx="10881360" cy="457200"/>
          </a:xfrm>
          <a:prstGeom prst="rect">
            <a:avLst/>
          </a:prstGeom>
          <a:noFill/>
          <a:ln/>
        </p:spPr>
        <p:txBody>
          <a:bodyPr wrap="square" lIns="0" tIns="0" rIns="0" bIns="0" rtlCol="0" anchor="ctr"/>
          <a:lstStyle/>
          <a:p>
            <a:pPr indent="0" marL="0">
              <a:buNone/>
            </a:pPr>
            <a:r>
              <a:rPr lang="en-US" sz="1300" i="1" dirty="0">
                <a:solidFill>
                  <a:srgbClr val="6577A0"/>
                </a:solidFill>
                <a:latin typeface="Calibri" pitchFamily="34" charset="0"/>
                <a:ea typeface="Calibri" pitchFamily="34" charset="-122"/>
                <a:cs typeface="Calibri" pitchFamily="34" charset="-120"/>
              </a:rPr>
              <a:t>Instituto de Estadística de la Comunidad de Madrid — datos.comunidad.madrid (grupo Demografía)</a:t>
            </a:r>
            <a:endParaRPr lang="en-US" sz="1300" dirty="0"/>
          </a:p>
        </p:txBody>
      </p:sp>
      <p:sp>
        <p:nvSpPr>
          <p:cNvPr id="7" name="Shape 4"/>
          <p:cNvSpPr/>
          <p:nvPr/>
        </p:nvSpPr>
        <p:spPr>
          <a:xfrm>
            <a:off x="640080" y="2514600"/>
            <a:ext cx="10881360" cy="868680"/>
          </a:xfrm>
          <a:prstGeom prst="roundRect">
            <a:avLst>
              <a:gd name="adj" fmla="val 12632"/>
            </a:avLst>
          </a:prstGeom>
          <a:solidFill>
            <a:srgbClr val="EFF4FD"/>
          </a:solidFill>
          <a:ln/>
          <a:effectLst>
            <a:outerShdw sx="100000" sy="100000" kx="0" ky="0" algn="bl" rotWithShape="0" blurRad="177800" dist="38100" dir="5400000">
              <a:srgbClr val="1E2761">
                <a:alpha val="12000"/>
              </a:srgbClr>
            </a:outerShdw>
          </a:effectLst>
        </p:spPr>
      </p:sp>
      <p:sp>
        <p:nvSpPr>
          <p:cNvPr id="8" name="Shape 5"/>
          <p:cNvSpPr/>
          <p:nvPr/>
        </p:nvSpPr>
        <p:spPr>
          <a:xfrm>
            <a:off x="896112" y="2697480"/>
            <a:ext cx="502920" cy="502920"/>
          </a:xfrm>
          <a:prstGeom prst="ellipse">
            <a:avLst/>
          </a:prstGeom>
          <a:solidFill>
            <a:srgbClr val="1E2761"/>
          </a:solidFill>
          <a:ln/>
        </p:spPr>
      </p:sp>
      <p:sp>
        <p:nvSpPr>
          <p:cNvPr id="9" name="Text 6"/>
          <p:cNvSpPr txBox="1"/>
          <p:nvPr/>
        </p:nvSpPr>
        <p:spPr>
          <a:xfrm>
            <a:off x="896112" y="269748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0" name="Text 7"/>
          <p:cNvSpPr txBox="1"/>
          <p:nvPr/>
        </p:nvSpPr>
        <p:spPr>
          <a:xfrm>
            <a:off x="1600200" y="2606040"/>
            <a:ext cx="7863840" cy="41148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Indicadores de natalidad y fecundidad</a:t>
            </a:r>
            <a:endParaRPr lang="en-US" sz="1450" dirty="0"/>
          </a:p>
        </p:txBody>
      </p:sp>
      <p:sp>
        <p:nvSpPr>
          <p:cNvPr id="11" name="Text 8"/>
          <p:cNvSpPr txBox="1"/>
          <p:nvPr/>
        </p:nvSpPr>
        <p:spPr>
          <a:xfrm>
            <a:off x="1600200" y="2990088"/>
            <a:ext cx="7863840" cy="320040"/>
          </a:xfrm>
          <a:prstGeom prst="rect">
            <a:avLst/>
          </a:prstGeom>
          <a:noFill/>
          <a:ln/>
        </p:spPr>
        <p:txBody>
          <a:bodyPr wrap="square" lIns="0" tIns="0" rIns="0" bIns="0" rtlCol="0" anchor="ctr"/>
          <a:lstStyle/>
          <a:p>
            <a:pPr indent="0" marL="0">
              <a:buNone/>
            </a:pPr>
            <a:r>
              <a:rPr lang="en-US" sz="1200" dirty="0">
                <a:solidFill>
                  <a:srgbClr val="6577A0"/>
                </a:solidFill>
                <a:latin typeface="Calibri" pitchFamily="34" charset="0"/>
                <a:ea typeface="Calibri" pitchFamily="34" charset="-122"/>
                <a:cs typeface="Calibri" pitchFamily="34" charset="-120"/>
              </a:rPr>
              <a:t>1985–2024 · Comunidad de Madrid</a:t>
            </a:r>
            <a:endParaRPr lang="en-US" sz="1200" dirty="0"/>
          </a:p>
        </p:txBody>
      </p:sp>
      <p:sp>
        <p:nvSpPr>
          <p:cNvPr id="12" name="Shape 9"/>
          <p:cNvSpPr/>
          <p:nvPr/>
        </p:nvSpPr>
        <p:spPr>
          <a:xfrm>
            <a:off x="640080" y="3566160"/>
            <a:ext cx="10881360" cy="868680"/>
          </a:xfrm>
          <a:prstGeom prst="roundRect">
            <a:avLst>
              <a:gd name="adj" fmla="val 12632"/>
            </a:avLst>
          </a:prstGeom>
          <a:solidFill>
            <a:srgbClr val="EFF4FD"/>
          </a:solidFill>
          <a:ln/>
          <a:effectLst>
            <a:outerShdw sx="100000" sy="100000" kx="0" ky="0" algn="bl" rotWithShape="0" blurRad="177800" dist="38100" dir="5400000">
              <a:srgbClr val="1E2761">
                <a:alpha val="12000"/>
              </a:srgbClr>
            </a:outerShdw>
          </a:effectLst>
        </p:spPr>
      </p:sp>
      <p:sp>
        <p:nvSpPr>
          <p:cNvPr id="13" name="Shape 10"/>
          <p:cNvSpPr/>
          <p:nvPr/>
        </p:nvSpPr>
        <p:spPr>
          <a:xfrm>
            <a:off x="896112" y="3749040"/>
            <a:ext cx="502920" cy="502920"/>
          </a:xfrm>
          <a:prstGeom prst="ellipse">
            <a:avLst/>
          </a:prstGeom>
          <a:solidFill>
            <a:srgbClr val="1E2761"/>
          </a:solidFill>
          <a:ln/>
        </p:spPr>
      </p:sp>
      <p:sp>
        <p:nvSpPr>
          <p:cNvPr id="14" name="Text 11"/>
          <p:cNvSpPr txBox="1"/>
          <p:nvPr/>
        </p:nvSpPr>
        <p:spPr>
          <a:xfrm>
            <a:off x="896112" y="374904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5" name="Text 12"/>
          <p:cNvSpPr txBox="1"/>
          <p:nvPr/>
        </p:nvSpPr>
        <p:spPr>
          <a:xfrm>
            <a:off x="1600200" y="3657600"/>
            <a:ext cx="7863840" cy="41148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Nacidos vivos por edad y nacionalidad de la madre. Municipios</a:t>
            </a:r>
            <a:endParaRPr lang="en-US" sz="1450" dirty="0"/>
          </a:p>
        </p:txBody>
      </p:sp>
      <p:sp>
        <p:nvSpPr>
          <p:cNvPr id="16" name="Text 13"/>
          <p:cNvSpPr txBox="1"/>
          <p:nvPr/>
        </p:nvSpPr>
        <p:spPr>
          <a:xfrm>
            <a:off x="1600200" y="4041648"/>
            <a:ext cx="7863840" cy="320040"/>
          </a:xfrm>
          <a:prstGeom prst="rect">
            <a:avLst/>
          </a:prstGeom>
          <a:noFill/>
          <a:ln/>
        </p:spPr>
        <p:txBody>
          <a:bodyPr wrap="square" lIns="0" tIns="0" rIns="0" bIns="0" rtlCol="0" anchor="ctr"/>
          <a:lstStyle/>
          <a:p>
            <a:pPr indent="0" marL="0">
              <a:buNone/>
            </a:pPr>
            <a:r>
              <a:rPr lang="en-US" sz="1200" dirty="0">
                <a:solidFill>
                  <a:srgbClr val="6577A0"/>
                </a:solidFill>
                <a:latin typeface="Calibri" pitchFamily="34" charset="0"/>
                <a:ea typeface="Calibri" pitchFamily="34" charset="-122"/>
                <a:cs typeface="Calibri" pitchFamily="34" charset="-120"/>
              </a:rPr>
              <a:t>1995–2024 · por municipio</a:t>
            </a:r>
            <a:endParaRPr lang="en-US" sz="1200" dirty="0"/>
          </a:p>
        </p:txBody>
      </p:sp>
      <p:sp>
        <p:nvSpPr>
          <p:cNvPr id="17" name="Shape 14"/>
          <p:cNvSpPr/>
          <p:nvPr/>
        </p:nvSpPr>
        <p:spPr>
          <a:xfrm>
            <a:off x="640080" y="4617720"/>
            <a:ext cx="10881360" cy="868680"/>
          </a:xfrm>
          <a:prstGeom prst="roundRect">
            <a:avLst>
              <a:gd name="adj" fmla="val 12632"/>
            </a:avLst>
          </a:prstGeom>
          <a:solidFill>
            <a:srgbClr val="EFF4FD"/>
          </a:solidFill>
          <a:ln/>
          <a:effectLst>
            <a:outerShdw sx="100000" sy="100000" kx="0" ky="0" algn="bl" rotWithShape="0" blurRad="177800" dist="38100" dir="5400000">
              <a:srgbClr val="1E2761">
                <a:alpha val="12000"/>
              </a:srgbClr>
            </a:outerShdw>
          </a:effectLst>
        </p:spPr>
      </p:sp>
      <p:sp>
        <p:nvSpPr>
          <p:cNvPr id="18" name="Shape 15"/>
          <p:cNvSpPr/>
          <p:nvPr/>
        </p:nvSpPr>
        <p:spPr>
          <a:xfrm>
            <a:off x="896112" y="4800600"/>
            <a:ext cx="502920" cy="502920"/>
          </a:xfrm>
          <a:prstGeom prst="ellipse">
            <a:avLst/>
          </a:prstGeom>
          <a:solidFill>
            <a:srgbClr val="1E2761"/>
          </a:solidFill>
          <a:ln/>
        </p:spPr>
      </p:sp>
      <p:sp>
        <p:nvSpPr>
          <p:cNvPr id="19" name="Text 16"/>
          <p:cNvSpPr txBox="1"/>
          <p:nvPr/>
        </p:nvSpPr>
        <p:spPr>
          <a:xfrm>
            <a:off x="896112" y="480060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0" name="Text 17"/>
          <p:cNvSpPr txBox="1"/>
          <p:nvPr/>
        </p:nvSpPr>
        <p:spPr>
          <a:xfrm>
            <a:off x="1600200" y="4709160"/>
            <a:ext cx="7863840" cy="41148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Nacidos vivos por nacionalidad de la madre: Total</a:t>
            </a:r>
            <a:endParaRPr lang="en-US" sz="1450" dirty="0"/>
          </a:p>
        </p:txBody>
      </p:sp>
      <p:sp>
        <p:nvSpPr>
          <p:cNvPr id="21" name="Text 18"/>
          <p:cNvSpPr txBox="1"/>
          <p:nvPr/>
        </p:nvSpPr>
        <p:spPr>
          <a:xfrm>
            <a:off x="1600200" y="5093208"/>
            <a:ext cx="7863840" cy="320040"/>
          </a:xfrm>
          <a:prstGeom prst="rect">
            <a:avLst/>
          </a:prstGeom>
          <a:noFill/>
          <a:ln/>
        </p:spPr>
        <p:txBody>
          <a:bodyPr wrap="square" lIns="0" tIns="0" rIns="0" bIns="0" rtlCol="0" anchor="ctr"/>
          <a:lstStyle/>
          <a:p>
            <a:pPr indent="0" marL="0">
              <a:buNone/>
            </a:pPr>
            <a:r>
              <a:rPr lang="en-US" sz="1200" dirty="0">
                <a:solidFill>
                  <a:srgbClr val="6577A0"/>
                </a:solidFill>
                <a:latin typeface="Calibri" pitchFamily="34" charset="0"/>
                <a:ea typeface="Calibri" pitchFamily="34" charset="-122"/>
                <a:cs typeface="Calibri" pitchFamily="34" charset="-120"/>
              </a:rPr>
              <a:t>1995–2024 · Comunidad de Madrid</a:t>
            </a:r>
            <a:endParaRPr lang="en-US" sz="1200" dirty="0"/>
          </a:p>
        </p:txBody>
      </p:sp>
      <p:sp>
        <p:nvSpPr>
          <p:cNvPr id="22" name="Text 19"/>
          <p:cNvSpPr txBox="1"/>
          <p:nvPr/>
        </p:nvSpPr>
        <p:spPr>
          <a:xfrm>
            <a:off x="640080" y="5715000"/>
            <a:ext cx="2743200" cy="320040"/>
          </a:xfrm>
          <a:prstGeom prst="rect">
            <a:avLst/>
          </a:prstGeom>
          <a:noFill/>
          <a:ln/>
        </p:spPr>
        <p:txBody>
          <a:bodyPr wrap="square" lIns="0" tIns="0" rIns="0" bIns="0" rtlCol="0" anchor="ctr"/>
          <a:lstStyle/>
          <a:p>
            <a:pPr indent="0" marL="0">
              <a:buNone/>
            </a:pPr>
            <a:r>
              <a:rPr lang="en-US" sz="1100" b="1" spc="200" kern="0" dirty="0">
                <a:solidFill>
                  <a:srgbClr val="6FA8DC"/>
                </a:solidFill>
                <a:latin typeface="Calibri" pitchFamily="34" charset="0"/>
                <a:ea typeface="Calibri" pitchFamily="34" charset="-122"/>
                <a:cs typeface="Calibri" pitchFamily="34" charset="-120"/>
              </a:rPr>
              <a:t>HERRAMIENTAS</a:t>
            </a:r>
            <a:endParaRPr lang="en-US" sz="1100" dirty="0"/>
          </a:p>
        </p:txBody>
      </p:sp>
      <p:sp>
        <p:nvSpPr>
          <p:cNvPr id="23" name="Shape 20"/>
          <p:cNvSpPr/>
          <p:nvPr/>
        </p:nvSpPr>
        <p:spPr>
          <a:xfrm>
            <a:off x="640080" y="6080760"/>
            <a:ext cx="3410712" cy="384048"/>
          </a:xfrm>
          <a:prstGeom prst="roundRect">
            <a:avLst>
              <a:gd name="adj" fmla="val 50000"/>
            </a:avLst>
          </a:prstGeom>
          <a:solidFill>
            <a:srgbClr val="1E2761"/>
          </a:solidFill>
          <a:ln/>
        </p:spPr>
      </p:sp>
      <p:sp>
        <p:nvSpPr>
          <p:cNvPr id="24" name="Text 21"/>
          <p:cNvSpPr txBox="1"/>
          <p:nvPr/>
        </p:nvSpPr>
        <p:spPr>
          <a:xfrm>
            <a:off x="640080" y="6080760"/>
            <a:ext cx="3410712" cy="384048"/>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Python (pandas · seaborn · matplotlib)</a:t>
            </a:r>
            <a:endParaRPr lang="en-US" sz="1150" dirty="0"/>
          </a:p>
        </p:txBody>
      </p:sp>
      <p:sp>
        <p:nvSpPr>
          <p:cNvPr id="25" name="Shape 22"/>
          <p:cNvSpPr/>
          <p:nvPr/>
        </p:nvSpPr>
        <p:spPr>
          <a:xfrm>
            <a:off x="4279392" y="6080760"/>
            <a:ext cx="1078992" cy="384048"/>
          </a:xfrm>
          <a:prstGeom prst="roundRect">
            <a:avLst>
              <a:gd name="adj" fmla="val 50000"/>
            </a:avLst>
          </a:prstGeom>
          <a:solidFill>
            <a:srgbClr val="1E2761"/>
          </a:solidFill>
          <a:ln/>
        </p:spPr>
      </p:sp>
      <p:sp>
        <p:nvSpPr>
          <p:cNvPr id="26" name="Text 23"/>
          <p:cNvSpPr txBox="1"/>
          <p:nvPr/>
        </p:nvSpPr>
        <p:spPr>
          <a:xfrm>
            <a:off x="4279392" y="6080760"/>
            <a:ext cx="1078992" cy="384048"/>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Power BI</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457200" cy="45720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3" name="Image 0" descr="/home/claude/ppt_review/icons/dev_tasa.png">    </p:cNvPr>
          <p:cNvPicPr>
            <a:picLocks noChangeAspect="1"/>
          </p:cNvPicPr>
          <p:nvPr/>
        </p:nvPicPr>
        <p:blipFill>
          <a:blip r:embed="rId1"/>
          <a:stretch>
            <a:fillRect/>
          </a:stretch>
        </p:blipFill>
        <p:spPr>
          <a:xfrm>
            <a:off x="736092" y="644652"/>
            <a:ext cx="265176" cy="265176"/>
          </a:xfrm>
          <a:prstGeom prst="rect">
            <a:avLst/>
          </a:prstGeom>
        </p:spPr>
      </p:pic>
      <p:sp>
        <p:nvSpPr>
          <p:cNvPr id="4" name="Text 1"/>
          <p:cNvSpPr txBox="1"/>
          <p:nvPr/>
        </p:nvSpPr>
        <p:spPr>
          <a:xfrm>
            <a:off x="1234440" y="548640"/>
            <a:ext cx="4114800" cy="457200"/>
          </a:xfrm>
          <a:prstGeom prst="rect">
            <a:avLst/>
          </a:prstGeom>
          <a:noFill/>
          <a:ln/>
        </p:spPr>
        <p:txBody>
          <a:bodyPr wrap="square" lIns="0" tIns="0" rIns="0" bIns="0" rtlCol="0" anchor="ctr"/>
          <a:lstStyle/>
          <a:p>
            <a:pPr indent="0" marL="0">
              <a:buNone/>
            </a:pPr>
            <a:r>
              <a:rPr lang="en-US" sz="1200" b="1" spc="200" kern="0" dirty="0">
                <a:solidFill>
                  <a:srgbClr val="6FA8DC"/>
                </a:solidFill>
                <a:latin typeface="Calibri" pitchFamily="34" charset="0"/>
                <a:ea typeface="Calibri" pitchFamily="34" charset="-122"/>
                <a:cs typeface="Calibri" pitchFamily="34" charset="-120"/>
              </a:rPr>
              <a:t>DESARROLLO · 1 DE 9</a:t>
            </a:r>
            <a:endParaRPr lang="en-US" sz="1200" dirty="0"/>
          </a:p>
        </p:txBody>
      </p:sp>
      <p:sp>
        <p:nvSpPr>
          <p:cNvPr id="5" name="Text 2"/>
          <p:cNvSpPr txBox="1"/>
          <p:nvPr/>
        </p:nvSpPr>
        <p:spPr>
          <a:xfrm>
            <a:off x="640080" y="1188720"/>
            <a:ext cx="5212080" cy="960120"/>
          </a:xfrm>
          <a:prstGeom prst="rect">
            <a:avLst/>
          </a:prstGeom>
          <a:noFill/>
          <a:ln/>
        </p:spPr>
        <p:txBody>
          <a:bodyPr wrap="square" lIns="0" tIns="0" rIns="0" bIns="0" rtlCol="0" anchor="t"/>
          <a:lstStyle/>
          <a:p>
            <a:pPr indent="0" marL="0">
              <a:lnSpc>
                <a:spcPts val="2700"/>
              </a:lnSpc>
              <a:buNone/>
            </a:pPr>
            <a:r>
              <a:rPr lang="en-US" sz="2500" b="1" dirty="0">
                <a:solidFill>
                  <a:srgbClr val="1E2761"/>
                </a:solidFill>
                <a:latin typeface="Cambria" pitchFamily="34" charset="0"/>
                <a:ea typeface="Cambria" pitchFamily="34" charset="-122"/>
                <a:cs typeface="Cambria" pitchFamily="34" charset="-120"/>
              </a:rPr>
              <a:t>Tasa bruta de natalidad</a:t>
            </a:r>
            <a:endParaRPr lang="en-US" sz="2500" dirty="0"/>
          </a:p>
        </p:txBody>
      </p:sp>
      <p:sp>
        <p:nvSpPr>
          <p:cNvPr id="6" name="Text 3"/>
          <p:cNvSpPr txBox="1"/>
          <p:nvPr/>
        </p:nvSpPr>
        <p:spPr>
          <a:xfrm>
            <a:off x="640080" y="2240280"/>
            <a:ext cx="5212080" cy="2788920"/>
          </a:xfrm>
          <a:prstGeom prst="rect">
            <a:avLst/>
          </a:prstGeom>
          <a:noFill/>
          <a:ln/>
        </p:spPr>
        <p:txBody>
          <a:bodyPr wrap="square" lIns="0" tIns="0" rIns="0" bIns="0" rtlCol="0" anchor="t"/>
          <a:lstStyle/>
          <a:p>
            <a:pPr indent="0" marL="0">
              <a:lnSpc>
                <a:spcPts val="1900"/>
              </a:lnSpc>
              <a:buNone/>
            </a:pPr>
            <a:r>
              <a:rPr lang="en-US" sz="1350" dirty="0">
                <a:solidFill>
                  <a:srgbClr val="26304F"/>
                </a:solidFill>
                <a:latin typeface="Calibri" pitchFamily="34" charset="0"/>
                <a:ea typeface="Calibri" pitchFamily="34" charset="-122"/>
                <a:cs typeface="Calibri" pitchFamily="34" charset="-120"/>
              </a:rPr>
              <a:t>La tasa bruta de natalidad ha pasado por dos grandes ciclos en cuatro décadas: valores altos en 1985 (en torno a 12 por cada 1.000 habitantes), un mínimo a finales de los 90, y un nuevo pico en 2008-2009 ligado a la fuerte inmigración. Desde entonces la tendencia es claramente decreciente, tocando mínimos históricos en 2024 — lo que refuerza la relevancia de políticas de apoyo como la que gestiona Tragsatec.</a:t>
            </a:r>
            <a:endParaRPr lang="en-US" sz="1350" dirty="0"/>
          </a:p>
        </p:txBody>
      </p:sp>
      <p:sp>
        <p:nvSpPr>
          <p:cNvPr id="7" name="Shape 4"/>
          <p:cNvSpPr/>
          <p:nvPr/>
        </p:nvSpPr>
        <p:spPr>
          <a:xfrm>
            <a:off x="640080" y="5257800"/>
            <a:ext cx="5212080" cy="1051560"/>
          </a:xfrm>
          <a:prstGeom prst="roundRect">
            <a:avLst>
              <a:gd name="adj" fmla="val 10435"/>
            </a:avLst>
          </a:prstGeom>
          <a:solidFill>
            <a:srgbClr val="6FA8DC"/>
          </a:solidFill>
          <a:ln/>
        </p:spPr>
      </p:sp>
      <p:sp>
        <p:nvSpPr>
          <p:cNvPr id="8" name="Text 5"/>
          <p:cNvSpPr txBox="1"/>
          <p:nvPr/>
        </p:nvSpPr>
        <p:spPr>
          <a:xfrm>
            <a:off x="868680" y="5367528"/>
            <a:ext cx="4754880" cy="504749"/>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Mínimo histórico</a:t>
            </a:r>
            <a:endParaRPr lang="en-US" sz="2200" dirty="0"/>
          </a:p>
        </p:txBody>
      </p:sp>
      <p:sp>
        <p:nvSpPr>
          <p:cNvPr id="9" name="Text 6"/>
          <p:cNvSpPr txBox="1"/>
          <p:nvPr/>
        </p:nvSpPr>
        <p:spPr>
          <a:xfrm>
            <a:off x="868680" y="5951830"/>
            <a:ext cx="4754880" cy="315468"/>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de la tasa de natalidad alcanzado en 2024</a:t>
            </a:r>
            <a:endParaRPr lang="en-US" sz="1200" dirty="0"/>
          </a:p>
        </p:txBody>
      </p:sp>
      <p:sp>
        <p:nvSpPr>
          <p:cNvPr id="10" name="Shape 7"/>
          <p:cNvSpPr/>
          <p:nvPr/>
        </p:nvSpPr>
        <p:spPr>
          <a:xfrm>
            <a:off x="6355080" y="960120"/>
            <a:ext cx="5440680" cy="5349240"/>
          </a:xfrm>
          <a:prstGeom prst="roundRect">
            <a:avLst>
              <a:gd name="adj" fmla="val 2051"/>
            </a:avLst>
          </a:prstGeom>
          <a:solidFill>
            <a:srgbClr val="FFFFFF"/>
          </a:solidFill>
          <a:ln/>
          <a:effectLst>
            <a:outerShdw sx="100000" sy="100000" kx="0" ky="0" algn="bl" rotWithShape="0" blurRad="177800" dist="38100" dir="5400000">
              <a:srgbClr val="1E2761">
                <a:alpha val="12000"/>
              </a:srgbClr>
            </a:outerShdw>
          </a:effectLst>
        </p:spPr>
      </p:sp>
      <p:pic>
        <p:nvPicPr>
          <p:cNvPr id="11" name="Image 1" descr="/home/claude/ppt_review/unpacked/ppt/media/image1.png">    </p:cNvPr>
          <p:cNvPicPr>
            <a:picLocks noChangeAspect="1"/>
          </p:cNvPicPr>
          <p:nvPr/>
        </p:nvPicPr>
        <p:blipFill>
          <a:blip r:embed="rId2"/>
          <a:stretch>
            <a:fillRect/>
          </a:stretch>
        </p:blipFill>
        <p:spPr>
          <a:xfrm>
            <a:off x="6675120" y="2517018"/>
            <a:ext cx="4800600" cy="22354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355080" y="548640"/>
            <a:ext cx="457200" cy="45720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3" name="Image 0" descr="/home/claude/ppt_review/icons/dev_edad.png">    </p:cNvPr>
          <p:cNvPicPr>
            <a:picLocks noChangeAspect="1"/>
          </p:cNvPicPr>
          <p:nvPr/>
        </p:nvPicPr>
        <p:blipFill>
          <a:blip r:embed="rId1"/>
          <a:stretch>
            <a:fillRect/>
          </a:stretch>
        </p:blipFill>
        <p:spPr>
          <a:xfrm>
            <a:off x="6451092" y="644652"/>
            <a:ext cx="265176" cy="265176"/>
          </a:xfrm>
          <a:prstGeom prst="rect">
            <a:avLst/>
          </a:prstGeom>
        </p:spPr>
      </p:pic>
      <p:sp>
        <p:nvSpPr>
          <p:cNvPr id="4" name="Text 1"/>
          <p:cNvSpPr txBox="1"/>
          <p:nvPr/>
        </p:nvSpPr>
        <p:spPr>
          <a:xfrm>
            <a:off x="6949440" y="548640"/>
            <a:ext cx="4114800" cy="457200"/>
          </a:xfrm>
          <a:prstGeom prst="rect">
            <a:avLst/>
          </a:prstGeom>
          <a:noFill/>
          <a:ln/>
        </p:spPr>
        <p:txBody>
          <a:bodyPr wrap="square" lIns="0" tIns="0" rIns="0" bIns="0" rtlCol="0" anchor="ctr"/>
          <a:lstStyle/>
          <a:p>
            <a:pPr indent="0" marL="0">
              <a:buNone/>
            </a:pPr>
            <a:r>
              <a:rPr lang="en-US" sz="1200" b="1" spc="200" kern="0" dirty="0">
                <a:solidFill>
                  <a:srgbClr val="6FA8DC"/>
                </a:solidFill>
                <a:latin typeface="Calibri" pitchFamily="34" charset="0"/>
                <a:ea typeface="Calibri" pitchFamily="34" charset="-122"/>
                <a:cs typeface="Calibri" pitchFamily="34" charset="-120"/>
              </a:rPr>
              <a:t>DESARROLLO · 2 DE 9</a:t>
            </a:r>
            <a:endParaRPr lang="en-US" sz="1200" dirty="0"/>
          </a:p>
        </p:txBody>
      </p:sp>
      <p:sp>
        <p:nvSpPr>
          <p:cNvPr id="5" name="Text 2"/>
          <p:cNvSpPr txBox="1"/>
          <p:nvPr/>
        </p:nvSpPr>
        <p:spPr>
          <a:xfrm>
            <a:off x="6355080" y="1188720"/>
            <a:ext cx="5212080" cy="960120"/>
          </a:xfrm>
          <a:prstGeom prst="rect">
            <a:avLst/>
          </a:prstGeom>
          <a:noFill/>
          <a:ln/>
        </p:spPr>
        <p:txBody>
          <a:bodyPr wrap="square" lIns="0" tIns="0" rIns="0" bIns="0" rtlCol="0" anchor="t"/>
          <a:lstStyle/>
          <a:p>
            <a:pPr indent="0" marL="0">
              <a:lnSpc>
                <a:spcPts val="2700"/>
              </a:lnSpc>
              <a:buNone/>
            </a:pPr>
            <a:r>
              <a:rPr lang="en-US" sz="2500" b="1" dirty="0">
                <a:solidFill>
                  <a:srgbClr val="1E2761"/>
                </a:solidFill>
                <a:latin typeface="Cambria" pitchFamily="34" charset="0"/>
                <a:ea typeface="Cambria" pitchFamily="34" charset="-122"/>
                <a:cs typeface="Cambria" pitchFamily="34" charset="-120"/>
              </a:rPr>
              <a:t>Edad media de la madre</a:t>
            </a:r>
            <a:endParaRPr lang="en-US" sz="2500" dirty="0"/>
          </a:p>
        </p:txBody>
      </p:sp>
      <p:sp>
        <p:nvSpPr>
          <p:cNvPr id="6" name="Text 3"/>
          <p:cNvSpPr txBox="1"/>
          <p:nvPr/>
        </p:nvSpPr>
        <p:spPr>
          <a:xfrm>
            <a:off x="6355080" y="2240280"/>
            <a:ext cx="5212080" cy="2788920"/>
          </a:xfrm>
          <a:prstGeom prst="rect">
            <a:avLst/>
          </a:prstGeom>
          <a:noFill/>
          <a:ln/>
        </p:spPr>
        <p:txBody>
          <a:bodyPr wrap="square" lIns="0" tIns="0" rIns="0" bIns="0" rtlCol="0" anchor="t"/>
          <a:lstStyle/>
          <a:p>
            <a:pPr indent="0" marL="0">
              <a:lnSpc>
                <a:spcPts val="1900"/>
              </a:lnSpc>
              <a:buNone/>
            </a:pPr>
            <a:r>
              <a:rPr lang="en-US" sz="1350" dirty="0">
                <a:solidFill>
                  <a:srgbClr val="26304F"/>
                </a:solidFill>
                <a:latin typeface="Calibri" pitchFamily="34" charset="0"/>
                <a:ea typeface="Calibri" pitchFamily="34" charset="-122"/>
                <a:cs typeface="Calibri" pitchFamily="34" charset="-120"/>
              </a:rPr>
              <a:t>A diferencia de la tasa de natalidad, la edad media de la madre muestra una tendencia sostenida y prácticamente ininterrumpida al alza: de unos 28-29 años en 1985 a más de 33 años en 2024. Este envejecimiento progresivo de la maternidad es estructural, no coyuntural, y es un factor clave al valorar los requisitos de edad de las ayudas (actualmente limitadas a personas de hasta 30 años).</a:t>
            </a:r>
            <a:endParaRPr lang="en-US" sz="1350" dirty="0"/>
          </a:p>
        </p:txBody>
      </p:sp>
      <p:sp>
        <p:nvSpPr>
          <p:cNvPr id="7" name="Shape 4"/>
          <p:cNvSpPr/>
          <p:nvPr/>
        </p:nvSpPr>
        <p:spPr>
          <a:xfrm>
            <a:off x="6355080" y="5257800"/>
            <a:ext cx="5212080" cy="1051560"/>
          </a:xfrm>
          <a:prstGeom prst="roundRect">
            <a:avLst>
              <a:gd name="adj" fmla="val 10435"/>
            </a:avLst>
          </a:prstGeom>
          <a:solidFill>
            <a:srgbClr val="6FA8DC"/>
          </a:solidFill>
          <a:ln/>
        </p:spPr>
      </p:sp>
      <p:sp>
        <p:nvSpPr>
          <p:cNvPr id="8" name="Text 5"/>
          <p:cNvSpPr txBox="1"/>
          <p:nvPr/>
        </p:nvSpPr>
        <p:spPr>
          <a:xfrm>
            <a:off x="6583680" y="5367528"/>
            <a:ext cx="4754880" cy="504749"/>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+5 años</a:t>
            </a:r>
            <a:endParaRPr lang="en-US" sz="2200" dirty="0"/>
          </a:p>
        </p:txBody>
      </p:sp>
      <p:sp>
        <p:nvSpPr>
          <p:cNvPr id="9" name="Text 6"/>
          <p:cNvSpPr txBox="1"/>
          <p:nvPr/>
        </p:nvSpPr>
        <p:spPr>
          <a:xfrm>
            <a:off x="6583680" y="5951830"/>
            <a:ext cx="4754880" cy="315468"/>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de edad media de la madre desde 1985</a:t>
            </a:r>
            <a:endParaRPr lang="en-US" sz="1200" dirty="0"/>
          </a:p>
        </p:txBody>
      </p:sp>
      <p:sp>
        <p:nvSpPr>
          <p:cNvPr id="10" name="Shape 7"/>
          <p:cNvSpPr/>
          <p:nvPr/>
        </p:nvSpPr>
        <p:spPr>
          <a:xfrm>
            <a:off x="640080" y="960120"/>
            <a:ext cx="5440680" cy="5349240"/>
          </a:xfrm>
          <a:prstGeom prst="roundRect">
            <a:avLst>
              <a:gd name="adj" fmla="val 2051"/>
            </a:avLst>
          </a:prstGeom>
          <a:solidFill>
            <a:srgbClr val="FFFFFF"/>
          </a:solidFill>
          <a:ln/>
          <a:effectLst>
            <a:outerShdw sx="100000" sy="100000" kx="0" ky="0" algn="bl" rotWithShape="0" blurRad="177800" dist="38100" dir="5400000">
              <a:srgbClr val="1E2761">
                <a:alpha val="12000"/>
              </a:srgbClr>
            </a:outerShdw>
          </a:effectLst>
        </p:spPr>
      </p:sp>
      <p:pic>
        <p:nvPicPr>
          <p:cNvPr id="11" name="Image 1" descr="/home/claude/ppt_review/unpacked/ppt/media/image2.png">    </p:cNvPr>
          <p:cNvPicPr>
            <a:picLocks noChangeAspect="1"/>
          </p:cNvPicPr>
          <p:nvPr/>
        </p:nvPicPr>
        <p:blipFill>
          <a:blip r:embed="rId2"/>
          <a:stretch>
            <a:fillRect/>
          </a:stretch>
        </p:blipFill>
        <p:spPr>
          <a:xfrm>
            <a:off x="960120" y="2525104"/>
            <a:ext cx="4800600" cy="22192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457200" cy="45720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3" name="Image 0" descr="/home/claude/ppt_review/icons/dev_muni.png">    </p:cNvPr>
          <p:cNvPicPr>
            <a:picLocks noChangeAspect="1"/>
          </p:cNvPicPr>
          <p:nvPr/>
        </p:nvPicPr>
        <p:blipFill>
          <a:blip r:embed="rId1"/>
          <a:stretch>
            <a:fillRect/>
          </a:stretch>
        </p:blipFill>
        <p:spPr>
          <a:xfrm>
            <a:off x="736092" y="644652"/>
            <a:ext cx="265176" cy="265176"/>
          </a:xfrm>
          <a:prstGeom prst="rect">
            <a:avLst/>
          </a:prstGeom>
        </p:spPr>
      </p:pic>
      <p:sp>
        <p:nvSpPr>
          <p:cNvPr id="4" name="Text 1"/>
          <p:cNvSpPr txBox="1"/>
          <p:nvPr/>
        </p:nvSpPr>
        <p:spPr>
          <a:xfrm>
            <a:off x="1234440" y="548640"/>
            <a:ext cx="4114800" cy="457200"/>
          </a:xfrm>
          <a:prstGeom prst="rect">
            <a:avLst/>
          </a:prstGeom>
          <a:noFill/>
          <a:ln/>
        </p:spPr>
        <p:txBody>
          <a:bodyPr wrap="square" lIns="0" tIns="0" rIns="0" bIns="0" rtlCol="0" anchor="ctr"/>
          <a:lstStyle/>
          <a:p>
            <a:pPr indent="0" marL="0">
              <a:buNone/>
            </a:pPr>
            <a:r>
              <a:rPr lang="en-US" sz="1200" b="1" spc="200" kern="0" dirty="0">
                <a:solidFill>
                  <a:srgbClr val="6FA8DC"/>
                </a:solidFill>
                <a:latin typeface="Calibri" pitchFamily="34" charset="0"/>
                <a:ea typeface="Calibri" pitchFamily="34" charset="-122"/>
                <a:cs typeface="Calibri" pitchFamily="34" charset="-120"/>
              </a:rPr>
              <a:t>DESARROLLO · 3 DE 9</a:t>
            </a:r>
            <a:endParaRPr lang="en-US" sz="1200" dirty="0"/>
          </a:p>
        </p:txBody>
      </p:sp>
      <p:sp>
        <p:nvSpPr>
          <p:cNvPr id="5" name="Text 2"/>
          <p:cNvSpPr txBox="1"/>
          <p:nvPr/>
        </p:nvSpPr>
        <p:spPr>
          <a:xfrm>
            <a:off x="640080" y="1188720"/>
            <a:ext cx="5212080" cy="960120"/>
          </a:xfrm>
          <a:prstGeom prst="rect">
            <a:avLst/>
          </a:prstGeom>
          <a:noFill/>
          <a:ln/>
        </p:spPr>
        <p:txBody>
          <a:bodyPr wrap="square" lIns="0" tIns="0" rIns="0" bIns="0" rtlCol="0" anchor="t"/>
          <a:lstStyle/>
          <a:p>
            <a:pPr indent="0" marL="0">
              <a:lnSpc>
                <a:spcPts val="2700"/>
              </a:lnSpc>
              <a:buNone/>
            </a:pPr>
            <a:r>
              <a:rPr lang="en-US" sz="2500" b="1" dirty="0">
                <a:solidFill>
                  <a:srgbClr val="1E2761"/>
                </a:solidFill>
                <a:latin typeface="Cambria" pitchFamily="34" charset="0"/>
                <a:ea typeface="Cambria" pitchFamily="34" charset="-122"/>
                <a:cs typeface="Cambria" pitchFamily="34" charset="-120"/>
              </a:rPr>
              <a:t>Municipios con más nacimientos de madres jóvenes</a:t>
            </a:r>
            <a:endParaRPr lang="en-US" sz="2500" dirty="0"/>
          </a:p>
        </p:txBody>
      </p:sp>
      <p:sp>
        <p:nvSpPr>
          <p:cNvPr id="6" name="Text 3"/>
          <p:cNvSpPr txBox="1"/>
          <p:nvPr/>
        </p:nvSpPr>
        <p:spPr>
          <a:xfrm>
            <a:off x="640080" y="2240280"/>
            <a:ext cx="5212080" cy="2788920"/>
          </a:xfrm>
          <a:prstGeom prst="rect">
            <a:avLst/>
          </a:prstGeom>
          <a:noFill/>
          <a:ln/>
        </p:spPr>
        <p:txBody>
          <a:bodyPr wrap="square" lIns="0" tIns="0" rIns="0" bIns="0" rtlCol="0" anchor="t"/>
          <a:lstStyle/>
          <a:p>
            <a:pPr indent="0" marL="0">
              <a:lnSpc>
                <a:spcPts val="1900"/>
              </a:lnSpc>
              <a:buNone/>
            </a:pPr>
            <a:r>
              <a:rPr lang="en-US" sz="1350" dirty="0">
                <a:solidFill>
                  <a:srgbClr val="26304F"/>
                </a:solidFill>
                <a:latin typeface="Calibri" pitchFamily="34" charset="0"/>
                <a:ea typeface="Calibri" pitchFamily="34" charset="-122"/>
                <a:cs typeface="Calibri" pitchFamily="34" charset="-120"/>
              </a:rPr>
              <a:t>Al filtrar los nacimientos de 2024 por madres de hasta 29 años (perfil más cercano al requisito de edad de la ayuda), Madrid capital concentra, con diferencia, el mayor número, seguida de municipios del sur y este metropolitano: Parla, Alcalá de Henares, Móstoles, Getafe y Leganés. Son, junto con la capital, los principales focos de demanda potencial de la ayuda por volumen de nacimientos en el rango de edad elegible.</a:t>
            </a:r>
            <a:endParaRPr lang="en-US" sz="1350" dirty="0"/>
          </a:p>
        </p:txBody>
      </p:sp>
      <p:sp>
        <p:nvSpPr>
          <p:cNvPr id="7" name="Shape 4"/>
          <p:cNvSpPr/>
          <p:nvPr/>
        </p:nvSpPr>
        <p:spPr>
          <a:xfrm>
            <a:off x="640080" y="5257800"/>
            <a:ext cx="5212080" cy="1051560"/>
          </a:xfrm>
          <a:prstGeom prst="roundRect">
            <a:avLst>
              <a:gd name="adj" fmla="val 10435"/>
            </a:avLst>
          </a:prstGeom>
          <a:solidFill>
            <a:srgbClr val="6FA8DC"/>
          </a:solidFill>
          <a:ln/>
        </p:spPr>
      </p:sp>
      <p:sp>
        <p:nvSpPr>
          <p:cNvPr id="8" name="Text 5"/>
          <p:cNvSpPr txBox="1"/>
          <p:nvPr/>
        </p:nvSpPr>
        <p:spPr>
          <a:xfrm>
            <a:off x="868680" y="5367528"/>
            <a:ext cx="4754880" cy="504749"/>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Madrid capital</a:t>
            </a:r>
            <a:endParaRPr lang="en-US" sz="2200" dirty="0"/>
          </a:p>
        </p:txBody>
      </p:sp>
      <p:sp>
        <p:nvSpPr>
          <p:cNvPr id="9" name="Text 6"/>
          <p:cNvSpPr txBox="1"/>
          <p:nvPr/>
        </p:nvSpPr>
        <p:spPr>
          <a:xfrm>
            <a:off x="868680" y="5951830"/>
            <a:ext cx="4754880" cy="315468"/>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lidera con diferencia los nacimientos de madres ≤29 años</a:t>
            </a:r>
            <a:endParaRPr lang="en-US" sz="1200" dirty="0"/>
          </a:p>
        </p:txBody>
      </p:sp>
      <p:sp>
        <p:nvSpPr>
          <p:cNvPr id="10" name="Shape 7"/>
          <p:cNvSpPr/>
          <p:nvPr/>
        </p:nvSpPr>
        <p:spPr>
          <a:xfrm>
            <a:off x="6355080" y="960120"/>
            <a:ext cx="5440680" cy="5349240"/>
          </a:xfrm>
          <a:prstGeom prst="roundRect">
            <a:avLst>
              <a:gd name="adj" fmla="val 2051"/>
            </a:avLst>
          </a:prstGeom>
          <a:solidFill>
            <a:srgbClr val="FFFFFF"/>
          </a:solidFill>
          <a:ln/>
          <a:effectLst>
            <a:outerShdw sx="100000" sy="100000" kx="0" ky="0" algn="bl" rotWithShape="0" blurRad="177800" dist="38100" dir="5400000">
              <a:srgbClr val="1E2761">
                <a:alpha val="12000"/>
              </a:srgbClr>
            </a:outerShdw>
          </a:effectLst>
        </p:spPr>
      </p:sp>
      <p:pic>
        <p:nvPicPr>
          <p:cNvPr id="11" name="Image 1" descr="/home/claude/ppt_review/unpacked/ppt/media/image3.png">    </p:cNvPr>
          <p:cNvPicPr>
            <a:picLocks noChangeAspect="1"/>
          </p:cNvPicPr>
          <p:nvPr/>
        </p:nvPicPr>
        <p:blipFill>
          <a:blip r:embed="rId2"/>
          <a:stretch>
            <a:fillRect/>
          </a:stretch>
        </p:blipFill>
        <p:spPr>
          <a:xfrm>
            <a:off x="6675120" y="2535708"/>
            <a:ext cx="4800600" cy="21980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355080" y="548640"/>
            <a:ext cx="457200" cy="45720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3" name="Image 0" descr="/home/claude/ppt_review/icons/dev_mapa.png">    </p:cNvPr>
          <p:cNvPicPr>
            <a:picLocks noChangeAspect="1"/>
          </p:cNvPicPr>
          <p:nvPr/>
        </p:nvPicPr>
        <p:blipFill>
          <a:blip r:embed="rId1"/>
          <a:stretch>
            <a:fillRect/>
          </a:stretch>
        </p:blipFill>
        <p:spPr>
          <a:xfrm>
            <a:off x="6451092" y="644652"/>
            <a:ext cx="265176" cy="265176"/>
          </a:xfrm>
          <a:prstGeom prst="rect">
            <a:avLst/>
          </a:prstGeom>
        </p:spPr>
      </p:pic>
      <p:sp>
        <p:nvSpPr>
          <p:cNvPr id="4" name="Text 1"/>
          <p:cNvSpPr txBox="1"/>
          <p:nvPr/>
        </p:nvSpPr>
        <p:spPr>
          <a:xfrm>
            <a:off x="6949440" y="548640"/>
            <a:ext cx="4114800" cy="457200"/>
          </a:xfrm>
          <a:prstGeom prst="rect">
            <a:avLst/>
          </a:prstGeom>
          <a:noFill/>
          <a:ln/>
        </p:spPr>
        <p:txBody>
          <a:bodyPr wrap="square" lIns="0" tIns="0" rIns="0" bIns="0" rtlCol="0" anchor="ctr"/>
          <a:lstStyle/>
          <a:p>
            <a:pPr indent="0" marL="0">
              <a:buNone/>
            </a:pPr>
            <a:r>
              <a:rPr lang="en-US" sz="1200" b="1" spc="200" kern="0" dirty="0">
                <a:solidFill>
                  <a:srgbClr val="6FA8DC"/>
                </a:solidFill>
                <a:latin typeface="Calibri" pitchFamily="34" charset="0"/>
                <a:ea typeface="Calibri" pitchFamily="34" charset="-122"/>
                <a:cs typeface="Calibri" pitchFamily="34" charset="-120"/>
              </a:rPr>
              <a:t>DESARROLLO · 4 DE 9</a:t>
            </a:r>
            <a:endParaRPr lang="en-US" sz="1200" dirty="0"/>
          </a:p>
        </p:txBody>
      </p:sp>
      <p:sp>
        <p:nvSpPr>
          <p:cNvPr id="5" name="Text 2"/>
          <p:cNvSpPr txBox="1"/>
          <p:nvPr/>
        </p:nvSpPr>
        <p:spPr>
          <a:xfrm>
            <a:off x="6355080" y="1188720"/>
            <a:ext cx="5212080" cy="960120"/>
          </a:xfrm>
          <a:prstGeom prst="rect">
            <a:avLst/>
          </a:prstGeom>
          <a:noFill/>
          <a:ln/>
        </p:spPr>
        <p:txBody>
          <a:bodyPr wrap="square" lIns="0" tIns="0" rIns="0" bIns="0" rtlCol="0" anchor="t"/>
          <a:lstStyle/>
          <a:p>
            <a:pPr indent="0" marL="0">
              <a:lnSpc>
                <a:spcPts val="2700"/>
              </a:lnSpc>
              <a:buNone/>
            </a:pPr>
            <a:r>
              <a:rPr lang="en-US" sz="2500" b="1" dirty="0">
                <a:solidFill>
                  <a:srgbClr val="1E2761"/>
                </a:solidFill>
                <a:latin typeface="Cambria" pitchFamily="34" charset="0"/>
                <a:ea typeface="Cambria" pitchFamily="34" charset="-122"/>
                <a:cs typeface="Cambria" pitchFamily="34" charset="-120"/>
              </a:rPr>
              <a:t>Mapa de municipios</a:t>
            </a:r>
            <a:endParaRPr lang="en-US" sz="2500" dirty="0"/>
          </a:p>
        </p:txBody>
      </p:sp>
      <p:sp>
        <p:nvSpPr>
          <p:cNvPr id="6" name="Text 3"/>
          <p:cNvSpPr txBox="1"/>
          <p:nvPr/>
        </p:nvSpPr>
        <p:spPr>
          <a:xfrm>
            <a:off x="6355080" y="2240280"/>
            <a:ext cx="5212080" cy="2788920"/>
          </a:xfrm>
          <a:prstGeom prst="rect">
            <a:avLst/>
          </a:prstGeom>
          <a:noFill/>
          <a:ln/>
        </p:spPr>
        <p:txBody>
          <a:bodyPr wrap="square" lIns="0" tIns="0" rIns="0" bIns="0" rtlCol="0" anchor="t"/>
          <a:lstStyle/>
          <a:p>
            <a:pPr indent="0" marL="0">
              <a:lnSpc>
                <a:spcPts val="1900"/>
              </a:lnSpc>
              <a:buNone/>
            </a:pPr>
            <a:r>
              <a:rPr lang="en-US" sz="1350" dirty="0">
                <a:solidFill>
                  <a:srgbClr val="26304F"/>
                </a:solidFill>
                <a:latin typeface="Calibri" pitchFamily="34" charset="0"/>
                <a:ea typeface="Calibri" pitchFamily="34" charset="-122"/>
                <a:cs typeface="Calibri" pitchFamily="34" charset="-120"/>
              </a:rPr>
              <a:t>El mapa sitúa geográficamente ese mismo dato — los nacimientos de madres de hasta 29 años por municipio en 2024 — con el tamaño de cada burbuja proporcional al número de nacidos. Se aprecia con claridad cómo se concentran en Madrid capital y en un anillo de municipios del sur y este metropolitano, mientras que la práctica totalidad de municipios rurales del norte y noroeste presentan cifras muy bajas y dispersas — una lectura territorial que complementa el ranking de la diapositiva anterior.</a:t>
            </a:r>
            <a:endParaRPr lang="en-US" sz="1350" dirty="0"/>
          </a:p>
        </p:txBody>
      </p:sp>
      <p:sp>
        <p:nvSpPr>
          <p:cNvPr id="7" name="Shape 4"/>
          <p:cNvSpPr/>
          <p:nvPr/>
        </p:nvSpPr>
        <p:spPr>
          <a:xfrm>
            <a:off x="6355080" y="5257800"/>
            <a:ext cx="5212080" cy="1051560"/>
          </a:xfrm>
          <a:prstGeom prst="roundRect">
            <a:avLst>
              <a:gd name="adj" fmla="val 10435"/>
            </a:avLst>
          </a:prstGeom>
          <a:solidFill>
            <a:srgbClr val="6FA8DC"/>
          </a:solidFill>
          <a:ln/>
        </p:spPr>
      </p:sp>
      <p:sp>
        <p:nvSpPr>
          <p:cNvPr id="8" name="Text 5"/>
          <p:cNvSpPr txBox="1"/>
          <p:nvPr/>
        </p:nvSpPr>
        <p:spPr>
          <a:xfrm>
            <a:off x="6583680" y="5367528"/>
            <a:ext cx="4754880" cy="504749"/>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Patrón radial</a:t>
            </a:r>
            <a:endParaRPr lang="en-US" sz="2200" dirty="0"/>
          </a:p>
        </p:txBody>
      </p:sp>
      <p:sp>
        <p:nvSpPr>
          <p:cNvPr id="9" name="Text 6"/>
          <p:cNvSpPr txBox="1"/>
          <p:nvPr/>
        </p:nvSpPr>
        <p:spPr>
          <a:xfrm>
            <a:off x="6583680" y="5951830"/>
            <a:ext cx="4754880" cy="315468"/>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los nacimientos se concentran en torno a la capital</a:t>
            </a:r>
            <a:endParaRPr lang="en-US" sz="1200" dirty="0"/>
          </a:p>
        </p:txBody>
      </p:sp>
      <p:sp>
        <p:nvSpPr>
          <p:cNvPr id="10" name="Shape 7"/>
          <p:cNvSpPr/>
          <p:nvPr/>
        </p:nvSpPr>
        <p:spPr>
          <a:xfrm>
            <a:off x="640080" y="960120"/>
            <a:ext cx="5440680" cy="5349240"/>
          </a:xfrm>
          <a:prstGeom prst="roundRect">
            <a:avLst>
              <a:gd name="adj" fmla="val 2051"/>
            </a:avLst>
          </a:prstGeom>
          <a:solidFill>
            <a:srgbClr val="FFFFFF"/>
          </a:solidFill>
          <a:ln/>
          <a:effectLst>
            <a:outerShdw sx="100000" sy="100000" kx="0" ky="0" algn="bl" rotWithShape="0" blurRad="177800" dist="38100" dir="5400000">
              <a:srgbClr val="1E2761">
                <a:alpha val="12000"/>
              </a:srgbClr>
            </a:outerShdw>
          </a:effectLst>
        </p:spPr>
      </p:sp>
      <p:pic>
        <p:nvPicPr>
          <p:cNvPr id="11" name="Image 1" descr="/home/claude/ppt_review/unpacked/ppt/media/image6.png">    </p:cNvPr>
          <p:cNvPicPr>
            <a:picLocks noChangeAspect="1"/>
          </p:cNvPicPr>
          <p:nvPr/>
        </p:nvPicPr>
        <p:blipFill>
          <a:blip r:embed="rId2"/>
          <a:stretch>
            <a:fillRect/>
          </a:stretch>
        </p:blipFill>
        <p:spPr>
          <a:xfrm>
            <a:off x="960120" y="2532916"/>
            <a:ext cx="4800600" cy="22036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457200" cy="45720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3" name="Image 0" descr="/home/claude/ppt_review/icons/dev_extra.png">    </p:cNvPr>
          <p:cNvPicPr>
            <a:picLocks noChangeAspect="1"/>
          </p:cNvPicPr>
          <p:nvPr/>
        </p:nvPicPr>
        <p:blipFill>
          <a:blip r:embed="rId1"/>
          <a:stretch>
            <a:fillRect/>
          </a:stretch>
        </p:blipFill>
        <p:spPr>
          <a:xfrm>
            <a:off x="736092" y="644652"/>
            <a:ext cx="265176" cy="265176"/>
          </a:xfrm>
          <a:prstGeom prst="rect">
            <a:avLst/>
          </a:prstGeom>
        </p:spPr>
      </p:pic>
      <p:sp>
        <p:nvSpPr>
          <p:cNvPr id="4" name="Text 1"/>
          <p:cNvSpPr txBox="1"/>
          <p:nvPr/>
        </p:nvSpPr>
        <p:spPr>
          <a:xfrm>
            <a:off x="1234440" y="548640"/>
            <a:ext cx="4114800" cy="457200"/>
          </a:xfrm>
          <a:prstGeom prst="rect">
            <a:avLst/>
          </a:prstGeom>
          <a:noFill/>
          <a:ln/>
        </p:spPr>
        <p:txBody>
          <a:bodyPr wrap="square" lIns="0" tIns="0" rIns="0" bIns="0" rtlCol="0" anchor="ctr"/>
          <a:lstStyle/>
          <a:p>
            <a:pPr indent="0" marL="0">
              <a:buNone/>
            </a:pPr>
            <a:r>
              <a:rPr lang="en-US" sz="1200" b="1" spc="200" kern="0" dirty="0">
                <a:solidFill>
                  <a:srgbClr val="6FA8DC"/>
                </a:solidFill>
                <a:latin typeface="Calibri" pitchFamily="34" charset="0"/>
                <a:ea typeface="Calibri" pitchFamily="34" charset="-122"/>
                <a:cs typeface="Calibri" pitchFamily="34" charset="-120"/>
              </a:rPr>
              <a:t>DESARROLLO · 5 DE 9</a:t>
            </a:r>
            <a:endParaRPr lang="en-US" sz="1200" dirty="0"/>
          </a:p>
        </p:txBody>
      </p:sp>
      <p:sp>
        <p:nvSpPr>
          <p:cNvPr id="5" name="Text 2"/>
          <p:cNvSpPr txBox="1"/>
          <p:nvPr/>
        </p:nvSpPr>
        <p:spPr>
          <a:xfrm>
            <a:off x="640080" y="1188720"/>
            <a:ext cx="5212080" cy="960120"/>
          </a:xfrm>
          <a:prstGeom prst="rect">
            <a:avLst/>
          </a:prstGeom>
          <a:noFill/>
          <a:ln/>
        </p:spPr>
        <p:txBody>
          <a:bodyPr wrap="square" lIns="0" tIns="0" rIns="0" bIns="0" rtlCol="0" anchor="t"/>
          <a:lstStyle/>
          <a:p>
            <a:pPr indent="0" marL="0">
              <a:lnSpc>
                <a:spcPts val="2700"/>
              </a:lnSpc>
              <a:buNone/>
            </a:pPr>
            <a:r>
              <a:rPr lang="en-US" sz="2500" b="1" dirty="0">
                <a:solidFill>
                  <a:srgbClr val="1E2761"/>
                </a:solidFill>
                <a:latin typeface="Cambria" pitchFamily="34" charset="0"/>
                <a:ea typeface="Cambria" pitchFamily="34" charset="-122"/>
                <a:cs typeface="Cambria" pitchFamily="34" charset="-120"/>
              </a:rPr>
              <a:t>% de nacimientos de madre extranjera</a:t>
            </a:r>
            <a:endParaRPr lang="en-US" sz="2500" dirty="0"/>
          </a:p>
        </p:txBody>
      </p:sp>
      <p:sp>
        <p:nvSpPr>
          <p:cNvPr id="6" name="Text 3"/>
          <p:cNvSpPr txBox="1"/>
          <p:nvPr/>
        </p:nvSpPr>
        <p:spPr>
          <a:xfrm>
            <a:off x="640080" y="2240280"/>
            <a:ext cx="5212080" cy="2788920"/>
          </a:xfrm>
          <a:prstGeom prst="rect">
            <a:avLst/>
          </a:prstGeom>
          <a:noFill/>
          <a:ln/>
        </p:spPr>
        <p:txBody>
          <a:bodyPr wrap="square" lIns="0" tIns="0" rIns="0" bIns="0" rtlCol="0" anchor="t"/>
          <a:lstStyle/>
          <a:p>
            <a:pPr indent="0" marL="0">
              <a:lnSpc>
                <a:spcPts val="1900"/>
              </a:lnSpc>
              <a:buNone/>
            </a:pPr>
            <a:r>
              <a:rPr lang="en-US" sz="1350" dirty="0">
                <a:solidFill>
                  <a:srgbClr val="26304F"/>
                </a:solidFill>
                <a:latin typeface="Calibri" pitchFamily="34" charset="0"/>
                <a:ea typeface="Calibri" pitchFamily="34" charset="-122"/>
                <a:cs typeface="Calibri" pitchFamily="34" charset="-120"/>
              </a:rPr>
              <a:t>El porcentaje de nacimientos de madres de nacionalidad extranjera ha crecido de forma muy marcada: partía de apenas un 5% en 1995, alcanzó un primer pico en torno al 26% en 2008-2009 (boom migratorio previo a la crisis), y tras estabilizarse entre el 20% y el 25%, ha vuelto a repuntar hasta cerca del 27% en 2024. Actualmente, más de una de cada cuatro madres que dan a luz en la Comunidad de Madrid es de origen extranjero, aunque más de 7 de cada 10 nacimientos siguen siendo de madre española.</a:t>
            </a:r>
            <a:endParaRPr lang="en-US" sz="1350" dirty="0"/>
          </a:p>
        </p:txBody>
      </p:sp>
      <p:sp>
        <p:nvSpPr>
          <p:cNvPr id="7" name="Shape 4"/>
          <p:cNvSpPr/>
          <p:nvPr/>
        </p:nvSpPr>
        <p:spPr>
          <a:xfrm>
            <a:off x="640080" y="5257800"/>
            <a:ext cx="5212080" cy="1051560"/>
          </a:xfrm>
          <a:prstGeom prst="roundRect">
            <a:avLst>
              <a:gd name="adj" fmla="val 10435"/>
            </a:avLst>
          </a:prstGeom>
          <a:solidFill>
            <a:srgbClr val="6FA8DC"/>
          </a:solidFill>
          <a:ln/>
        </p:spPr>
      </p:sp>
      <p:sp>
        <p:nvSpPr>
          <p:cNvPr id="8" name="Text 5"/>
          <p:cNvSpPr txBox="1"/>
          <p:nvPr/>
        </p:nvSpPr>
        <p:spPr>
          <a:xfrm>
            <a:off x="868680" y="5367528"/>
            <a:ext cx="4754880" cy="504749"/>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27%</a:t>
            </a:r>
            <a:endParaRPr lang="en-US" sz="2200" dirty="0"/>
          </a:p>
        </p:txBody>
      </p:sp>
      <p:sp>
        <p:nvSpPr>
          <p:cNvPr id="9" name="Text 6"/>
          <p:cNvSpPr txBox="1"/>
          <p:nvPr/>
        </p:nvSpPr>
        <p:spPr>
          <a:xfrm>
            <a:off x="868680" y="5951830"/>
            <a:ext cx="4754880" cy="315468"/>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de los nacimientos de 2024 son de madre extranjera</a:t>
            </a:r>
            <a:endParaRPr lang="en-US" sz="1200" dirty="0"/>
          </a:p>
        </p:txBody>
      </p:sp>
      <p:sp>
        <p:nvSpPr>
          <p:cNvPr id="10" name="Shape 7"/>
          <p:cNvSpPr/>
          <p:nvPr/>
        </p:nvSpPr>
        <p:spPr>
          <a:xfrm>
            <a:off x="6355080" y="960120"/>
            <a:ext cx="5440680" cy="5349240"/>
          </a:xfrm>
          <a:prstGeom prst="roundRect">
            <a:avLst>
              <a:gd name="adj" fmla="val 2051"/>
            </a:avLst>
          </a:prstGeom>
          <a:solidFill>
            <a:srgbClr val="FFFFFF"/>
          </a:solidFill>
          <a:ln/>
          <a:effectLst>
            <a:outerShdw sx="100000" sy="100000" kx="0" ky="0" algn="bl" rotWithShape="0" blurRad="177800" dist="38100" dir="5400000">
              <a:srgbClr val="1E2761">
                <a:alpha val="12000"/>
              </a:srgbClr>
            </a:outerShdw>
          </a:effectLst>
        </p:spPr>
      </p:sp>
      <p:pic>
        <p:nvPicPr>
          <p:cNvPr id="11" name="Image 1" descr="/home/claude/ppt_review/unpacked/ppt/media/image4.png">    </p:cNvPr>
          <p:cNvPicPr>
            <a:picLocks noChangeAspect="1"/>
          </p:cNvPicPr>
          <p:nvPr/>
        </p:nvPicPr>
        <p:blipFill>
          <a:blip r:embed="rId2"/>
          <a:stretch>
            <a:fillRect/>
          </a:stretch>
        </p:blipFill>
        <p:spPr>
          <a:xfrm>
            <a:off x="6675120" y="2533017"/>
            <a:ext cx="4800600" cy="220344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355080" y="548640"/>
            <a:ext cx="457200" cy="45720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3" name="Image 0" descr="/home/claude/ppt_review/icons/dev_cont.png">    </p:cNvPr>
          <p:cNvPicPr>
            <a:picLocks noChangeAspect="1"/>
          </p:cNvPicPr>
          <p:nvPr/>
        </p:nvPicPr>
        <p:blipFill>
          <a:blip r:embed="rId1"/>
          <a:stretch>
            <a:fillRect/>
          </a:stretch>
        </p:blipFill>
        <p:spPr>
          <a:xfrm>
            <a:off x="6451092" y="644652"/>
            <a:ext cx="265176" cy="265176"/>
          </a:xfrm>
          <a:prstGeom prst="rect">
            <a:avLst/>
          </a:prstGeom>
        </p:spPr>
      </p:pic>
      <p:sp>
        <p:nvSpPr>
          <p:cNvPr id="4" name="Text 1"/>
          <p:cNvSpPr txBox="1"/>
          <p:nvPr/>
        </p:nvSpPr>
        <p:spPr>
          <a:xfrm>
            <a:off x="6949440" y="548640"/>
            <a:ext cx="4114800" cy="457200"/>
          </a:xfrm>
          <a:prstGeom prst="rect">
            <a:avLst/>
          </a:prstGeom>
          <a:noFill/>
          <a:ln/>
        </p:spPr>
        <p:txBody>
          <a:bodyPr wrap="square" lIns="0" tIns="0" rIns="0" bIns="0" rtlCol="0" anchor="ctr"/>
          <a:lstStyle/>
          <a:p>
            <a:pPr indent="0" marL="0">
              <a:buNone/>
            </a:pPr>
            <a:r>
              <a:rPr lang="en-US" sz="1200" b="1" spc="200" kern="0" dirty="0">
                <a:solidFill>
                  <a:srgbClr val="6FA8DC"/>
                </a:solidFill>
                <a:latin typeface="Calibri" pitchFamily="34" charset="0"/>
                <a:ea typeface="Calibri" pitchFamily="34" charset="-122"/>
                <a:cs typeface="Calibri" pitchFamily="34" charset="-120"/>
              </a:rPr>
              <a:t>DESARROLLO · 6 DE 9</a:t>
            </a:r>
            <a:endParaRPr lang="en-US" sz="1200" dirty="0"/>
          </a:p>
        </p:txBody>
      </p:sp>
      <p:sp>
        <p:nvSpPr>
          <p:cNvPr id="5" name="Text 2"/>
          <p:cNvSpPr txBox="1"/>
          <p:nvPr/>
        </p:nvSpPr>
        <p:spPr>
          <a:xfrm>
            <a:off x="6355080" y="1188720"/>
            <a:ext cx="5212080" cy="960120"/>
          </a:xfrm>
          <a:prstGeom prst="rect">
            <a:avLst/>
          </a:prstGeom>
          <a:noFill/>
          <a:ln/>
        </p:spPr>
        <p:txBody>
          <a:bodyPr wrap="square" lIns="0" tIns="0" rIns="0" bIns="0" rtlCol="0" anchor="t"/>
          <a:lstStyle/>
          <a:p>
            <a:pPr indent="0" marL="0">
              <a:lnSpc>
                <a:spcPts val="2700"/>
              </a:lnSpc>
              <a:buNone/>
            </a:pPr>
            <a:r>
              <a:rPr lang="en-US" sz="2500" b="1" dirty="0">
                <a:solidFill>
                  <a:srgbClr val="1E2761"/>
                </a:solidFill>
                <a:latin typeface="Cambria" pitchFamily="34" charset="0"/>
                <a:ea typeface="Cambria" pitchFamily="34" charset="-122"/>
                <a:cs typeface="Cambria" pitchFamily="34" charset="-120"/>
              </a:rPr>
              <a:t>Nacimientos por continente de origen</a:t>
            </a:r>
            <a:endParaRPr lang="en-US" sz="2500" dirty="0"/>
          </a:p>
        </p:txBody>
      </p:sp>
      <p:sp>
        <p:nvSpPr>
          <p:cNvPr id="6" name="Text 3"/>
          <p:cNvSpPr txBox="1"/>
          <p:nvPr/>
        </p:nvSpPr>
        <p:spPr>
          <a:xfrm>
            <a:off x="6355080" y="2240280"/>
            <a:ext cx="5212080" cy="2788920"/>
          </a:xfrm>
          <a:prstGeom prst="rect">
            <a:avLst/>
          </a:prstGeom>
          <a:noFill/>
          <a:ln/>
        </p:spPr>
        <p:txBody>
          <a:bodyPr wrap="square" lIns="0" tIns="0" rIns="0" bIns="0" rtlCol="0" anchor="t"/>
          <a:lstStyle/>
          <a:p>
            <a:pPr indent="0" marL="0">
              <a:lnSpc>
                <a:spcPts val="1900"/>
              </a:lnSpc>
              <a:buNone/>
            </a:pPr>
            <a:r>
              <a:rPr lang="en-US" sz="1350" dirty="0">
                <a:solidFill>
                  <a:srgbClr val="26304F"/>
                </a:solidFill>
                <a:latin typeface="Calibri" pitchFamily="34" charset="0"/>
                <a:ea typeface="Calibri" pitchFamily="34" charset="-122"/>
                <a:cs typeface="Calibri" pitchFamily="34" charset="-120"/>
              </a:rPr>
              <a:t>Entre los nacimientos de madres extranjeras en 2024, predominan claramente las de origen americano, seguidas de la Unión Europea (sin España) y de África. Los nacimientos de madres de origen asiático y del resto de Europa son notablemente menores, y los de origen oceánico son prácticamente mínimos — un patrón coherente con los principales flujos migratorios hacia la Comunidad de Madrid en la última década.</a:t>
            </a:r>
            <a:endParaRPr lang="en-US" sz="1350" dirty="0"/>
          </a:p>
        </p:txBody>
      </p:sp>
      <p:sp>
        <p:nvSpPr>
          <p:cNvPr id="7" name="Shape 4"/>
          <p:cNvSpPr/>
          <p:nvPr/>
        </p:nvSpPr>
        <p:spPr>
          <a:xfrm>
            <a:off x="6355080" y="5257800"/>
            <a:ext cx="5212080" cy="1051560"/>
          </a:xfrm>
          <a:prstGeom prst="roundRect">
            <a:avLst>
              <a:gd name="adj" fmla="val 10435"/>
            </a:avLst>
          </a:prstGeom>
          <a:solidFill>
            <a:srgbClr val="6FA8DC"/>
          </a:solidFill>
          <a:ln/>
        </p:spPr>
      </p:sp>
      <p:sp>
        <p:nvSpPr>
          <p:cNvPr id="8" name="Text 5"/>
          <p:cNvSpPr txBox="1"/>
          <p:nvPr/>
        </p:nvSpPr>
        <p:spPr>
          <a:xfrm>
            <a:off x="6583680" y="5367528"/>
            <a:ext cx="4754880" cy="504749"/>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América</a:t>
            </a:r>
            <a:endParaRPr lang="en-US" sz="2200" dirty="0"/>
          </a:p>
        </p:txBody>
      </p:sp>
      <p:sp>
        <p:nvSpPr>
          <p:cNvPr id="9" name="Text 6"/>
          <p:cNvSpPr txBox="1"/>
          <p:nvPr/>
        </p:nvSpPr>
        <p:spPr>
          <a:xfrm>
            <a:off x="6583680" y="5951830"/>
            <a:ext cx="4754880" cy="315468"/>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es el origen predominante de las madres extranjeras</a:t>
            </a:r>
            <a:endParaRPr lang="en-US" sz="1200" dirty="0"/>
          </a:p>
        </p:txBody>
      </p:sp>
      <p:sp>
        <p:nvSpPr>
          <p:cNvPr id="10" name="Shape 7"/>
          <p:cNvSpPr/>
          <p:nvPr/>
        </p:nvSpPr>
        <p:spPr>
          <a:xfrm>
            <a:off x="640080" y="960120"/>
            <a:ext cx="5440680" cy="5349240"/>
          </a:xfrm>
          <a:prstGeom prst="roundRect">
            <a:avLst>
              <a:gd name="adj" fmla="val 2051"/>
            </a:avLst>
          </a:prstGeom>
          <a:solidFill>
            <a:srgbClr val="FFFFFF"/>
          </a:solidFill>
          <a:ln/>
          <a:effectLst>
            <a:outerShdw sx="100000" sy="100000" kx="0" ky="0" algn="bl" rotWithShape="0" blurRad="177800" dist="38100" dir="5400000">
              <a:srgbClr val="1E2761">
                <a:alpha val="12000"/>
              </a:srgbClr>
            </a:outerShdw>
          </a:effectLst>
        </p:spPr>
      </p:sp>
      <p:pic>
        <p:nvPicPr>
          <p:cNvPr id="11" name="Image 1" descr="/home/claude/ppt_review/unpacked/ppt/media/image5.png">    </p:cNvPr>
          <p:cNvPicPr>
            <a:picLocks noChangeAspect="1"/>
          </p:cNvPicPr>
          <p:nvPr/>
        </p:nvPicPr>
        <p:blipFill>
          <a:blip r:embed="rId2"/>
          <a:stretch>
            <a:fillRect/>
          </a:stretch>
        </p:blipFill>
        <p:spPr>
          <a:xfrm>
            <a:off x="960120" y="2521338"/>
            <a:ext cx="4800600" cy="22268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457200" cy="45720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3" name="Image 0" descr="/home/claude/ppt_review/icons/dev_area.png">    </p:cNvPr>
          <p:cNvPicPr>
            <a:picLocks noChangeAspect="1"/>
          </p:cNvPicPr>
          <p:nvPr/>
        </p:nvPicPr>
        <p:blipFill>
          <a:blip r:embed="rId1"/>
          <a:stretch>
            <a:fillRect/>
          </a:stretch>
        </p:blipFill>
        <p:spPr>
          <a:xfrm>
            <a:off x="736092" y="644652"/>
            <a:ext cx="265176" cy="265176"/>
          </a:xfrm>
          <a:prstGeom prst="rect">
            <a:avLst/>
          </a:prstGeom>
        </p:spPr>
      </p:pic>
      <p:sp>
        <p:nvSpPr>
          <p:cNvPr id="4" name="Text 1"/>
          <p:cNvSpPr txBox="1"/>
          <p:nvPr/>
        </p:nvSpPr>
        <p:spPr>
          <a:xfrm>
            <a:off x="1234440" y="548640"/>
            <a:ext cx="4114800" cy="457200"/>
          </a:xfrm>
          <a:prstGeom prst="rect">
            <a:avLst/>
          </a:prstGeom>
          <a:noFill/>
          <a:ln/>
        </p:spPr>
        <p:txBody>
          <a:bodyPr wrap="square" lIns="0" tIns="0" rIns="0" bIns="0" rtlCol="0" anchor="ctr"/>
          <a:lstStyle/>
          <a:p>
            <a:pPr indent="0" marL="0">
              <a:buNone/>
            </a:pPr>
            <a:r>
              <a:rPr lang="en-US" sz="1200" b="1" spc="200" kern="0" dirty="0">
                <a:solidFill>
                  <a:srgbClr val="6FA8DC"/>
                </a:solidFill>
                <a:latin typeface="Calibri" pitchFamily="34" charset="0"/>
                <a:ea typeface="Calibri" pitchFamily="34" charset="-122"/>
                <a:cs typeface="Calibri" pitchFamily="34" charset="-120"/>
              </a:rPr>
              <a:t>DESARROLLO · 7 DE 9</a:t>
            </a:r>
            <a:endParaRPr lang="en-US" sz="1200" dirty="0"/>
          </a:p>
        </p:txBody>
      </p:sp>
      <p:sp>
        <p:nvSpPr>
          <p:cNvPr id="5" name="Text 2"/>
          <p:cNvSpPr txBox="1"/>
          <p:nvPr/>
        </p:nvSpPr>
        <p:spPr>
          <a:xfrm>
            <a:off x="640080" y="1188720"/>
            <a:ext cx="5212080" cy="960120"/>
          </a:xfrm>
          <a:prstGeom prst="rect">
            <a:avLst/>
          </a:prstGeom>
          <a:noFill/>
          <a:ln/>
        </p:spPr>
        <p:txBody>
          <a:bodyPr wrap="square" lIns="0" tIns="0" rIns="0" bIns="0" rtlCol="0" anchor="t"/>
          <a:lstStyle/>
          <a:p>
            <a:pPr indent="0" marL="0">
              <a:lnSpc>
                <a:spcPts val="2700"/>
              </a:lnSpc>
              <a:buNone/>
            </a:pPr>
            <a:r>
              <a:rPr lang="en-US" sz="2500" b="1" dirty="0">
                <a:solidFill>
                  <a:srgbClr val="1E2761"/>
                </a:solidFill>
                <a:latin typeface="Cambria" pitchFamily="34" charset="0"/>
                <a:ea typeface="Cambria" pitchFamily="34" charset="-122"/>
                <a:cs typeface="Cambria" pitchFamily="34" charset="-120"/>
              </a:rPr>
              <a:t>Evolución por origen</a:t>
            </a:r>
            <a:endParaRPr lang="en-US" sz="2500" dirty="0"/>
          </a:p>
        </p:txBody>
      </p:sp>
      <p:sp>
        <p:nvSpPr>
          <p:cNvPr id="6" name="Text 3"/>
          <p:cNvSpPr txBox="1"/>
          <p:nvPr/>
        </p:nvSpPr>
        <p:spPr>
          <a:xfrm>
            <a:off x="640080" y="2240280"/>
            <a:ext cx="5212080" cy="2788920"/>
          </a:xfrm>
          <a:prstGeom prst="rect">
            <a:avLst/>
          </a:prstGeom>
          <a:noFill/>
          <a:ln/>
        </p:spPr>
        <p:txBody>
          <a:bodyPr wrap="square" lIns="0" tIns="0" rIns="0" bIns="0" rtlCol="0" anchor="t"/>
          <a:lstStyle/>
          <a:p>
            <a:pPr indent="0" marL="0">
              <a:lnSpc>
                <a:spcPts val="1900"/>
              </a:lnSpc>
              <a:buNone/>
            </a:pPr>
            <a:r>
              <a:rPr lang="en-US" sz="1350" dirty="0">
                <a:solidFill>
                  <a:srgbClr val="26304F"/>
                </a:solidFill>
                <a:latin typeface="Calibri" pitchFamily="34" charset="0"/>
                <a:ea typeface="Calibri" pitchFamily="34" charset="-122"/>
                <a:cs typeface="Calibri" pitchFamily="34" charset="-120"/>
              </a:rPr>
              <a:t>El gráfico de áreas apiladas muestra cómo se ha repartido cada año, entre 1995 y 2024, el número de nacimientos de madre española y de madre extranjera. Se aprecia con claridad el momento en el que el área naranja (madres extranjeras) empieza a ganar peso a partir de mediados de los 2000, sin llegar nunca a superar a la de madres españolas, que sigue siendo mayoritaria en todo el periodo.</a:t>
            </a:r>
            <a:endParaRPr lang="en-US" sz="1350" dirty="0"/>
          </a:p>
        </p:txBody>
      </p:sp>
      <p:sp>
        <p:nvSpPr>
          <p:cNvPr id="7" name="Shape 4"/>
          <p:cNvSpPr/>
          <p:nvPr/>
        </p:nvSpPr>
        <p:spPr>
          <a:xfrm>
            <a:off x="640080" y="5257800"/>
            <a:ext cx="5212080" cy="1051560"/>
          </a:xfrm>
          <a:prstGeom prst="roundRect">
            <a:avLst>
              <a:gd name="adj" fmla="val 10435"/>
            </a:avLst>
          </a:prstGeom>
          <a:solidFill>
            <a:srgbClr val="6FA8DC"/>
          </a:solidFill>
          <a:ln/>
        </p:spPr>
      </p:sp>
      <p:sp>
        <p:nvSpPr>
          <p:cNvPr id="8" name="Text 5"/>
          <p:cNvSpPr txBox="1"/>
          <p:nvPr/>
        </p:nvSpPr>
        <p:spPr>
          <a:xfrm>
            <a:off x="868680" y="5367528"/>
            <a:ext cx="4754880" cy="504749"/>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Desde 2005</a:t>
            </a:r>
            <a:endParaRPr lang="en-US" sz="2200" dirty="0"/>
          </a:p>
        </p:txBody>
      </p:sp>
      <p:sp>
        <p:nvSpPr>
          <p:cNvPr id="9" name="Text 6"/>
          <p:cNvSpPr txBox="1"/>
          <p:nvPr/>
        </p:nvSpPr>
        <p:spPr>
          <a:xfrm>
            <a:off x="868680" y="5951830"/>
            <a:ext cx="4754880" cy="315468"/>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el área de madres extranjeras gana peso de forma sostenida</a:t>
            </a:r>
            <a:endParaRPr lang="en-US" sz="1200" dirty="0"/>
          </a:p>
        </p:txBody>
      </p:sp>
      <p:sp>
        <p:nvSpPr>
          <p:cNvPr id="10" name="Shape 7"/>
          <p:cNvSpPr/>
          <p:nvPr/>
        </p:nvSpPr>
        <p:spPr>
          <a:xfrm>
            <a:off x="6355080" y="960120"/>
            <a:ext cx="5440680" cy="5349240"/>
          </a:xfrm>
          <a:prstGeom prst="roundRect">
            <a:avLst>
              <a:gd name="adj" fmla="val 2051"/>
            </a:avLst>
          </a:prstGeom>
          <a:solidFill>
            <a:srgbClr val="FFFFFF"/>
          </a:solidFill>
          <a:ln/>
          <a:effectLst>
            <a:outerShdw sx="100000" sy="100000" kx="0" ky="0" algn="bl" rotWithShape="0" blurRad="177800" dist="38100" dir="5400000">
              <a:srgbClr val="1E2761">
                <a:alpha val="12000"/>
              </a:srgbClr>
            </a:outerShdw>
          </a:effectLst>
        </p:spPr>
      </p:sp>
      <p:pic>
        <p:nvPicPr>
          <p:cNvPr id="11" name="Image 1" descr="/home/claude/ppt_review/unpacked/ppt/media/image7.png">    </p:cNvPr>
          <p:cNvPicPr>
            <a:picLocks noChangeAspect="1"/>
          </p:cNvPicPr>
          <p:nvPr/>
        </p:nvPicPr>
        <p:blipFill>
          <a:blip r:embed="rId2"/>
          <a:stretch>
            <a:fillRect/>
          </a:stretch>
        </p:blipFill>
        <p:spPr>
          <a:xfrm>
            <a:off x="6675120" y="2548890"/>
            <a:ext cx="4800600" cy="21717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355080" y="548640"/>
            <a:ext cx="457200" cy="45720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3" name="Image 0" descr="/home/claude/ppt_review/icons/dev_disp.png">    </p:cNvPr>
          <p:cNvPicPr>
            <a:picLocks noChangeAspect="1"/>
          </p:cNvPicPr>
          <p:nvPr/>
        </p:nvPicPr>
        <p:blipFill>
          <a:blip r:embed="rId1"/>
          <a:stretch>
            <a:fillRect/>
          </a:stretch>
        </p:blipFill>
        <p:spPr>
          <a:xfrm>
            <a:off x="6451092" y="644652"/>
            <a:ext cx="265176" cy="265176"/>
          </a:xfrm>
          <a:prstGeom prst="rect">
            <a:avLst/>
          </a:prstGeom>
        </p:spPr>
      </p:pic>
      <p:sp>
        <p:nvSpPr>
          <p:cNvPr id="4" name="Text 1"/>
          <p:cNvSpPr txBox="1"/>
          <p:nvPr/>
        </p:nvSpPr>
        <p:spPr>
          <a:xfrm>
            <a:off x="6949440" y="548640"/>
            <a:ext cx="4114800" cy="457200"/>
          </a:xfrm>
          <a:prstGeom prst="rect">
            <a:avLst/>
          </a:prstGeom>
          <a:noFill/>
          <a:ln/>
        </p:spPr>
        <p:txBody>
          <a:bodyPr wrap="square" lIns="0" tIns="0" rIns="0" bIns="0" rtlCol="0" anchor="ctr"/>
          <a:lstStyle/>
          <a:p>
            <a:pPr indent="0" marL="0">
              <a:buNone/>
            </a:pPr>
            <a:r>
              <a:rPr lang="en-US" sz="1200" b="1" spc="200" kern="0" dirty="0">
                <a:solidFill>
                  <a:srgbClr val="6FA8DC"/>
                </a:solidFill>
                <a:latin typeface="Calibri" pitchFamily="34" charset="0"/>
                <a:ea typeface="Calibri" pitchFamily="34" charset="-122"/>
                <a:cs typeface="Calibri" pitchFamily="34" charset="-120"/>
              </a:rPr>
              <a:t>DESARROLLO · 8 DE 9</a:t>
            </a:r>
            <a:endParaRPr lang="en-US" sz="1200" dirty="0"/>
          </a:p>
        </p:txBody>
      </p:sp>
      <p:sp>
        <p:nvSpPr>
          <p:cNvPr id="5" name="Text 2"/>
          <p:cNvSpPr txBox="1"/>
          <p:nvPr/>
        </p:nvSpPr>
        <p:spPr>
          <a:xfrm>
            <a:off x="6355080" y="1188720"/>
            <a:ext cx="5212080" cy="960120"/>
          </a:xfrm>
          <a:prstGeom prst="rect">
            <a:avLst/>
          </a:prstGeom>
          <a:noFill/>
          <a:ln/>
        </p:spPr>
        <p:txBody>
          <a:bodyPr wrap="square" lIns="0" tIns="0" rIns="0" bIns="0" rtlCol="0" anchor="t"/>
          <a:lstStyle/>
          <a:p>
            <a:pPr indent="0" marL="0">
              <a:lnSpc>
                <a:spcPts val="2700"/>
              </a:lnSpc>
              <a:buNone/>
            </a:pPr>
            <a:r>
              <a:rPr lang="en-US" sz="2500" b="1" dirty="0">
                <a:solidFill>
                  <a:srgbClr val="1E2761"/>
                </a:solidFill>
                <a:latin typeface="Cambria" pitchFamily="34" charset="0"/>
                <a:ea typeface="Cambria" pitchFamily="34" charset="-122"/>
                <a:cs typeface="Cambria" pitchFamily="34" charset="-120"/>
              </a:rPr>
              <a:t>Relación edad-natalidad</a:t>
            </a:r>
            <a:endParaRPr lang="en-US" sz="2500" dirty="0"/>
          </a:p>
        </p:txBody>
      </p:sp>
      <p:sp>
        <p:nvSpPr>
          <p:cNvPr id="6" name="Text 3"/>
          <p:cNvSpPr txBox="1"/>
          <p:nvPr/>
        </p:nvSpPr>
        <p:spPr>
          <a:xfrm>
            <a:off x="6355080" y="2240280"/>
            <a:ext cx="5212080" cy="2788920"/>
          </a:xfrm>
          <a:prstGeom prst="rect">
            <a:avLst/>
          </a:prstGeom>
          <a:noFill/>
          <a:ln/>
        </p:spPr>
        <p:txBody>
          <a:bodyPr wrap="square" lIns="0" tIns="0" rIns="0" bIns="0" rtlCol="0" anchor="t"/>
          <a:lstStyle/>
          <a:p>
            <a:pPr indent="0" marL="0">
              <a:lnSpc>
                <a:spcPts val="1900"/>
              </a:lnSpc>
              <a:buNone/>
            </a:pPr>
            <a:r>
              <a:rPr lang="en-US" sz="1350" dirty="0">
                <a:solidFill>
                  <a:srgbClr val="26304F"/>
                </a:solidFill>
                <a:latin typeface="Calibri" pitchFamily="34" charset="0"/>
                <a:ea typeface="Calibri" pitchFamily="34" charset="-122"/>
                <a:cs typeface="Calibri" pitchFamily="34" charset="-120"/>
              </a:rPr>
              <a:t>Cada punto del gráfico de dispersión representa un año entre 1985 y 2024, cruzando la edad media de la madre con la tasa bruta de natalidad de ese mismo año. La línea de tendencia confirma una relación inversa: a medida que la maternidad se retrasa, la tasa de natalidad tiende a bajar, lo que respalda la lectura conjunta de ambos indicadores en el contexto de la ayuda a la natalidad.</a:t>
            </a:r>
            <a:endParaRPr lang="en-US" sz="1350" dirty="0"/>
          </a:p>
        </p:txBody>
      </p:sp>
      <p:sp>
        <p:nvSpPr>
          <p:cNvPr id="7" name="Shape 4"/>
          <p:cNvSpPr/>
          <p:nvPr/>
        </p:nvSpPr>
        <p:spPr>
          <a:xfrm>
            <a:off x="6355080" y="5257800"/>
            <a:ext cx="5212080" cy="1051560"/>
          </a:xfrm>
          <a:prstGeom prst="roundRect">
            <a:avLst>
              <a:gd name="adj" fmla="val 10435"/>
            </a:avLst>
          </a:prstGeom>
          <a:solidFill>
            <a:srgbClr val="6FA8DC"/>
          </a:solidFill>
          <a:ln/>
        </p:spPr>
      </p:sp>
      <p:sp>
        <p:nvSpPr>
          <p:cNvPr id="8" name="Text 5"/>
          <p:cNvSpPr txBox="1"/>
          <p:nvPr/>
        </p:nvSpPr>
        <p:spPr>
          <a:xfrm>
            <a:off x="6583680" y="5367528"/>
            <a:ext cx="4754880" cy="504749"/>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Relación inversa</a:t>
            </a:r>
            <a:endParaRPr lang="en-US" sz="2200" dirty="0"/>
          </a:p>
        </p:txBody>
      </p:sp>
      <p:sp>
        <p:nvSpPr>
          <p:cNvPr id="9" name="Text 6"/>
          <p:cNvSpPr txBox="1"/>
          <p:nvPr/>
        </p:nvSpPr>
        <p:spPr>
          <a:xfrm>
            <a:off x="6583680" y="5951830"/>
            <a:ext cx="4754880" cy="315468"/>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entre edad media de la madre y tasa de natalidad</a:t>
            </a:r>
            <a:endParaRPr lang="en-US" sz="1200" dirty="0"/>
          </a:p>
        </p:txBody>
      </p:sp>
      <p:sp>
        <p:nvSpPr>
          <p:cNvPr id="10" name="Shape 7"/>
          <p:cNvSpPr/>
          <p:nvPr/>
        </p:nvSpPr>
        <p:spPr>
          <a:xfrm>
            <a:off x="640080" y="960120"/>
            <a:ext cx="5440680" cy="5349240"/>
          </a:xfrm>
          <a:prstGeom prst="roundRect">
            <a:avLst>
              <a:gd name="adj" fmla="val 2051"/>
            </a:avLst>
          </a:prstGeom>
          <a:solidFill>
            <a:srgbClr val="FFFFFF"/>
          </a:solidFill>
          <a:ln/>
          <a:effectLst>
            <a:outerShdw sx="100000" sy="100000" kx="0" ky="0" algn="bl" rotWithShape="0" blurRad="177800" dist="38100" dir="5400000">
              <a:srgbClr val="1E2761">
                <a:alpha val="12000"/>
              </a:srgbClr>
            </a:outerShdw>
          </a:effectLst>
        </p:spPr>
      </p:sp>
      <p:pic>
        <p:nvPicPr>
          <p:cNvPr id="11" name="Image 1" descr="/home/claude/ppt_review/unpacked/ppt/media/image8.png">    </p:cNvPr>
          <p:cNvPicPr>
            <a:picLocks noChangeAspect="1"/>
          </p:cNvPicPr>
          <p:nvPr/>
        </p:nvPicPr>
        <p:blipFill>
          <a:blip r:embed="rId2"/>
          <a:stretch>
            <a:fillRect/>
          </a:stretch>
        </p:blipFill>
        <p:spPr>
          <a:xfrm>
            <a:off x="960120" y="2533153"/>
            <a:ext cx="4800600" cy="220317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457200" cy="45720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3" name="Image 0" descr="/home/claude/ppt_review/icons/dev_resumen.png">    </p:cNvPr>
          <p:cNvPicPr>
            <a:picLocks noChangeAspect="1"/>
          </p:cNvPicPr>
          <p:nvPr/>
        </p:nvPicPr>
        <p:blipFill>
          <a:blip r:embed="rId1"/>
          <a:stretch>
            <a:fillRect/>
          </a:stretch>
        </p:blipFill>
        <p:spPr>
          <a:xfrm>
            <a:off x="736092" y="644652"/>
            <a:ext cx="265176" cy="265176"/>
          </a:xfrm>
          <a:prstGeom prst="rect">
            <a:avLst/>
          </a:prstGeom>
        </p:spPr>
      </p:pic>
      <p:sp>
        <p:nvSpPr>
          <p:cNvPr id="4" name="Text 1"/>
          <p:cNvSpPr txBox="1"/>
          <p:nvPr/>
        </p:nvSpPr>
        <p:spPr>
          <a:xfrm>
            <a:off x="1234440" y="548640"/>
            <a:ext cx="4114800" cy="457200"/>
          </a:xfrm>
          <a:prstGeom prst="rect">
            <a:avLst/>
          </a:prstGeom>
          <a:noFill/>
          <a:ln/>
        </p:spPr>
        <p:txBody>
          <a:bodyPr wrap="square" lIns="0" tIns="0" rIns="0" bIns="0" rtlCol="0" anchor="ctr"/>
          <a:lstStyle/>
          <a:p>
            <a:pPr indent="0" marL="0">
              <a:buNone/>
            </a:pPr>
            <a:r>
              <a:rPr lang="en-US" sz="1200" b="1" spc="200" kern="0" dirty="0">
                <a:solidFill>
                  <a:srgbClr val="6FA8DC"/>
                </a:solidFill>
                <a:latin typeface="Calibri" pitchFamily="34" charset="0"/>
                <a:ea typeface="Calibri" pitchFamily="34" charset="-122"/>
                <a:cs typeface="Calibri" pitchFamily="34" charset="-120"/>
              </a:rPr>
              <a:t>DESARROLLO · 9 DE 9</a:t>
            </a:r>
            <a:endParaRPr lang="en-US" sz="1200" dirty="0"/>
          </a:p>
        </p:txBody>
      </p:sp>
      <p:sp>
        <p:nvSpPr>
          <p:cNvPr id="5" name="Text 2"/>
          <p:cNvSpPr txBox="1"/>
          <p:nvPr/>
        </p:nvSpPr>
        <p:spPr>
          <a:xfrm>
            <a:off x="640080" y="1188720"/>
            <a:ext cx="5212080" cy="960120"/>
          </a:xfrm>
          <a:prstGeom prst="rect">
            <a:avLst/>
          </a:prstGeom>
          <a:noFill/>
          <a:ln/>
        </p:spPr>
        <p:txBody>
          <a:bodyPr wrap="square" lIns="0" tIns="0" rIns="0" bIns="0" rtlCol="0" anchor="t"/>
          <a:lstStyle/>
          <a:p>
            <a:pPr indent="0" marL="0">
              <a:lnSpc>
                <a:spcPts val="2700"/>
              </a:lnSpc>
              <a:buNone/>
            </a:pPr>
            <a:r>
              <a:rPr lang="en-US" sz="2500" b="1" dirty="0">
                <a:solidFill>
                  <a:srgbClr val="1E2761"/>
                </a:solidFill>
                <a:latin typeface="Cambria" pitchFamily="34" charset="0"/>
                <a:ea typeface="Cambria" pitchFamily="34" charset="-122"/>
                <a:cs typeface="Cambria" pitchFamily="34" charset="-120"/>
              </a:rPr>
              <a:t>Resumen del cambio (1985–2024)</a:t>
            </a:r>
            <a:endParaRPr lang="en-US" sz="2500" dirty="0"/>
          </a:p>
        </p:txBody>
      </p:sp>
      <p:sp>
        <p:nvSpPr>
          <p:cNvPr id="6" name="Text 3"/>
          <p:cNvSpPr txBox="1"/>
          <p:nvPr/>
        </p:nvSpPr>
        <p:spPr>
          <a:xfrm>
            <a:off x="640080" y="2240280"/>
            <a:ext cx="5212080" cy="2788920"/>
          </a:xfrm>
          <a:prstGeom prst="rect">
            <a:avLst/>
          </a:prstGeom>
          <a:noFill/>
          <a:ln/>
        </p:spPr>
        <p:txBody>
          <a:bodyPr wrap="square" lIns="0" tIns="0" rIns="0" bIns="0" rtlCol="0" anchor="t"/>
          <a:lstStyle/>
          <a:p>
            <a:pPr indent="0" marL="0">
              <a:lnSpc>
                <a:spcPts val="1900"/>
              </a:lnSpc>
              <a:buNone/>
            </a:pPr>
            <a:r>
              <a:rPr lang="en-US" sz="1350" dirty="0">
                <a:solidFill>
                  <a:srgbClr val="26304F"/>
                </a:solidFill>
                <a:latin typeface="Calibri" pitchFamily="34" charset="0"/>
                <a:ea typeface="Calibri" pitchFamily="34" charset="-122"/>
                <a:cs typeface="Calibri" pitchFamily="34" charset="-120"/>
              </a:rPr>
              <a:t>El gráfico divergente resume en un solo vistazo cuatro décadas de cambio: la tasa bruta de natalidad ha bajado de 12‰ a 6,8‰, la edad media de la madre ha subido de 28,5 a 33,3 años, y el porcentaje de madre extranjera ha pasado del 5% al 27%. Los tres indicadores, leídos en conjunto, describen el mismo fenómeno de fondo — menos nacimientos, más tardíos, en un contexto cada vez más diverso.</a:t>
            </a:r>
            <a:endParaRPr lang="en-US" sz="1350" dirty="0"/>
          </a:p>
        </p:txBody>
      </p:sp>
      <p:sp>
        <p:nvSpPr>
          <p:cNvPr id="7" name="Shape 4"/>
          <p:cNvSpPr/>
          <p:nvPr/>
        </p:nvSpPr>
        <p:spPr>
          <a:xfrm>
            <a:off x="640080" y="5257800"/>
            <a:ext cx="5212080" cy="1051560"/>
          </a:xfrm>
          <a:prstGeom prst="roundRect">
            <a:avLst>
              <a:gd name="adj" fmla="val 10435"/>
            </a:avLst>
          </a:prstGeom>
          <a:solidFill>
            <a:srgbClr val="6FA8DC"/>
          </a:solidFill>
          <a:ln/>
        </p:spPr>
      </p:sp>
      <p:sp>
        <p:nvSpPr>
          <p:cNvPr id="8" name="Text 5"/>
          <p:cNvSpPr txBox="1"/>
          <p:nvPr/>
        </p:nvSpPr>
        <p:spPr>
          <a:xfrm>
            <a:off x="868680" y="5367528"/>
            <a:ext cx="4754880" cy="504749"/>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3 de 3</a:t>
            </a:r>
            <a:endParaRPr lang="en-US" sz="2200" dirty="0"/>
          </a:p>
        </p:txBody>
      </p:sp>
      <p:sp>
        <p:nvSpPr>
          <p:cNvPr id="9" name="Text 6"/>
          <p:cNvSpPr txBox="1"/>
          <p:nvPr/>
        </p:nvSpPr>
        <p:spPr>
          <a:xfrm>
            <a:off x="868680" y="5951830"/>
            <a:ext cx="4754880" cy="315468"/>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indicadores clave con cambios muy marcados desde 1985</a:t>
            </a:r>
            <a:endParaRPr lang="en-US" sz="1200" dirty="0"/>
          </a:p>
        </p:txBody>
      </p:sp>
      <p:sp>
        <p:nvSpPr>
          <p:cNvPr id="10" name="Shape 7"/>
          <p:cNvSpPr/>
          <p:nvPr/>
        </p:nvSpPr>
        <p:spPr>
          <a:xfrm>
            <a:off x="6355080" y="960120"/>
            <a:ext cx="5440680" cy="5349240"/>
          </a:xfrm>
          <a:prstGeom prst="roundRect">
            <a:avLst>
              <a:gd name="adj" fmla="val 2051"/>
            </a:avLst>
          </a:prstGeom>
          <a:solidFill>
            <a:srgbClr val="FFFFFF"/>
          </a:solidFill>
          <a:ln/>
          <a:effectLst>
            <a:outerShdw sx="100000" sy="100000" kx="0" ky="0" algn="bl" rotWithShape="0" blurRad="177800" dist="38100" dir="5400000">
              <a:srgbClr val="1E2761">
                <a:alpha val="12000"/>
              </a:srgbClr>
            </a:outerShdw>
          </a:effectLst>
        </p:spPr>
      </p:sp>
      <p:pic>
        <p:nvPicPr>
          <p:cNvPr id="11" name="Image 1" descr="/home/claude/ppt_review/unpacked/ppt/media/image9.png">    </p:cNvPr>
          <p:cNvPicPr>
            <a:picLocks noChangeAspect="1"/>
          </p:cNvPicPr>
          <p:nvPr/>
        </p:nvPicPr>
        <p:blipFill>
          <a:blip r:embed="rId2"/>
          <a:stretch>
            <a:fillRect/>
          </a:stretch>
        </p:blipFill>
        <p:spPr>
          <a:xfrm>
            <a:off x="6675120" y="2542388"/>
            <a:ext cx="4800600" cy="218470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F4FD"/>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Resultados</a:t>
            </a:r>
            <a:endParaRPr lang="en-US" sz="3200" dirty="0"/>
          </a:p>
        </p:txBody>
      </p:sp>
      <p:sp>
        <p:nvSpPr>
          <p:cNvPr id="3" name="Shape 1"/>
          <p:cNvSpPr/>
          <p:nvPr/>
        </p:nvSpPr>
        <p:spPr>
          <a:xfrm>
            <a:off x="640080" y="1417320"/>
            <a:ext cx="5349240" cy="2148840"/>
          </a:xfrm>
          <a:prstGeom prst="roundRect">
            <a:avLst>
              <a:gd name="adj" fmla="val 5106"/>
            </a:avLst>
          </a:prstGeom>
          <a:solidFill>
            <a:srgbClr val="FFFFFF"/>
          </a:solidFill>
          <a:ln/>
          <a:effectLst>
            <a:outerShdw sx="100000" sy="100000" kx="0" ky="0" algn="bl" rotWithShape="0" blurRad="177800" dist="38100" dir="5400000">
              <a:srgbClr val="1E2761">
                <a:alpha val="12000"/>
              </a:srgbClr>
            </a:outerShdw>
          </a:effectLst>
        </p:spPr>
      </p:sp>
      <p:sp>
        <p:nvSpPr>
          <p:cNvPr id="4" name="Shape 2"/>
          <p:cNvSpPr/>
          <p:nvPr/>
        </p:nvSpPr>
        <p:spPr>
          <a:xfrm>
            <a:off x="914400" y="1691640"/>
            <a:ext cx="502920" cy="502920"/>
          </a:xfrm>
          <a:prstGeom prst="ellipse">
            <a:avLst/>
          </a:prstGeom>
          <a:solidFill>
            <a:srgbClr val="6FA8DC"/>
          </a:solidFill>
          <a:ln/>
          <a:effectLst>
            <a:outerShdw sx="100000" sy="100000" kx="0" ky="0" algn="bl" rotWithShape="0" blurRad="76200" dist="25400" dir="5400000">
              <a:srgbClr val="0B0F26">
                <a:alpha val="25000"/>
              </a:srgbClr>
            </a:outerShdw>
          </a:effectLst>
        </p:spPr>
      </p:sp>
      <p:pic>
        <p:nvPicPr>
          <p:cNvPr id="5" name="Image 0" descr="/home/claude/ppt_review/icons/check.png">    </p:cNvPr>
          <p:cNvPicPr>
            <a:picLocks noChangeAspect="1"/>
          </p:cNvPicPr>
          <p:nvPr/>
        </p:nvPicPr>
        <p:blipFill>
          <a:blip r:embed="rId1"/>
          <a:stretch>
            <a:fillRect/>
          </a:stretch>
        </p:blipFill>
        <p:spPr>
          <a:xfrm>
            <a:off x="1014984" y="1792224"/>
            <a:ext cx="301752" cy="301752"/>
          </a:xfrm>
          <a:prstGeom prst="rect">
            <a:avLst/>
          </a:prstGeom>
        </p:spPr>
      </p:pic>
      <p:sp>
        <p:nvSpPr>
          <p:cNvPr id="6" name="Text 3"/>
          <p:cNvSpPr txBox="1"/>
          <p:nvPr/>
        </p:nvSpPr>
        <p:spPr>
          <a:xfrm>
            <a:off x="914400" y="2331720"/>
            <a:ext cx="4800600" cy="1005840"/>
          </a:xfrm>
          <a:prstGeom prst="rect">
            <a:avLst/>
          </a:prstGeom>
          <a:noFill/>
          <a:ln/>
        </p:spPr>
        <p:txBody>
          <a:bodyPr wrap="square" lIns="0" tIns="0" rIns="0" bIns="0" rtlCol="0" anchor="t"/>
          <a:lstStyle/>
          <a:p>
            <a:pPr indent="0" marL="0">
              <a:lnSpc>
                <a:spcPts val="1800"/>
              </a:lnSpc>
              <a:buNone/>
            </a:pPr>
            <a:r>
              <a:rPr lang="en-US" sz="1350" dirty="0">
                <a:solidFill>
                  <a:srgbClr val="26304F"/>
                </a:solidFill>
                <a:latin typeface="Calibri" pitchFamily="34" charset="0"/>
                <a:ea typeface="Calibri" pitchFamily="34" charset="-122"/>
                <a:cs typeface="Calibri" pitchFamily="34" charset="-120"/>
              </a:rPr>
              <a:t>La natalidad está en mínimos históricos, tras dos ciclos de subida y bajada ligados a la evolución económica y migratoria.</a:t>
            </a:r>
            <a:endParaRPr lang="en-US" sz="1350" dirty="0"/>
          </a:p>
        </p:txBody>
      </p:sp>
      <p:sp>
        <p:nvSpPr>
          <p:cNvPr id="7" name="Shape 4"/>
          <p:cNvSpPr/>
          <p:nvPr/>
        </p:nvSpPr>
        <p:spPr>
          <a:xfrm>
            <a:off x="6355080" y="1417320"/>
            <a:ext cx="5349240" cy="2148840"/>
          </a:xfrm>
          <a:prstGeom prst="roundRect">
            <a:avLst>
              <a:gd name="adj" fmla="val 5106"/>
            </a:avLst>
          </a:prstGeom>
          <a:solidFill>
            <a:srgbClr val="FFFFFF"/>
          </a:solidFill>
          <a:ln/>
          <a:effectLst>
            <a:outerShdw sx="100000" sy="100000" kx="0" ky="0" algn="bl" rotWithShape="0" blurRad="177800" dist="38100" dir="5400000">
              <a:srgbClr val="1E2761">
                <a:alpha val="12000"/>
              </a:srgbClr>
            </a:outerShdw>
          </a:effectLst>
        </p:spPr>
      </p:sp>
      <p:sp>
        <p:nvSpPr>
          <p:cNvPr id="8" name="Shape 5"/>
          <p:cNvSpPr/>
          <p:nvPr/>
        </p:nvSpPr>
        <p:spPr>
          <a:xfrm>
            <a:off x="6629400" y="1691640"/>
            <a:ext cx="502920" cy="502920"/>
          </a:xfrm>
          <a:prstGeom prst="ellipse">
            <a:avLst/>
          </a:prstGeom>
          <a:solidFill>
            <a:srgbClr val="6FA8DC"/>
          </a:solidFill>
          <a:ln/>
          <a:effectLst>
            <a:outerShdw sx="100000" sy="100000" kx="0" ky="0" algn="bl" rotWithShape="0" blurRad="76200" dist="25400" dir="5400000">
              <a:srgbClr val="0B0F26">
                <a:alpha val="25000"/>
              </a:srgbClr>
            </a:outerShdw>
          </a:effectLst>
        </p:spPr>
      </p:sp>
      <p:pic>
        <p:nvPicPr>
          <p:cNvPr id="9" name="Image 1" descr="/home/claude/ppt_review/icons/check.png">    </p:cNvPr>
          <p:cNvPicPr>
            <a:picLocks noChangeAspect="1"/>
          </p:cNvPicPr>
          <p:nvPr/>
        </p:nvPicPr>
        <p:blipFill>
          <a:blip r:embed="rId2"/>
          <a:stretch>
            <a:fillRect/>
          </a:stretch>
        </p:blipFill>
        <p:spPr>
          <a:xfrm>
            <a:off x="6729984" y="1792224"/>
            <a:ext cx="301752" cy="301752"/>
          </a:xfrm>
          <a:prstGeom prst="rect">
            <a:avLst/>
          </a:prstGeom>
        </p:spPr>
      </p:pic>
      <p:sp>
        <p:nvSpPr>
          <p:cNvPr id="10" name="Text 6"/>
          <p:cNvSpPr txBox="1"/>
          <p:nvPr/>
        </p:nvSpPr>
        <p:spPr>
          <a:xfrm>
            <a:off x="6629400" y="2331720"/>
            <a:ext cx="4800600" cy="1005840"/>
          </a:xfrm>
          <a:prstGeom prst="rect">
            <a:avLst/>
          </a:prstGeom>
          <a:noFill/>
          <a:ln/>
        </p:spPr>
        <p:txBody>
          <a:bodyPr wrap="square" lIns="0" tIns="0" rIns="0" bIns="0" rtlCol="0" anchor="t"/>
          <a:lstStyle/>
          <a:p>
            <a:pPr indent="0" marL="0">
              <a:lnSpc>
                <a:spcPts val="1800"/>
              </a:lnSpc>
              <a:buNone/>
            </a:pPr>
            <a:r>
              <a:rPr lang="en-US" sz="1350" dirty="0">
                <a:solidFill>
                  <a:srgbClr val="26304F"/>
                </a:solidFill>
                <a:latin typeface="Calibri" pitchFamily="34" charset="0"/>
                <a:ea typeface="Calibri" pitchFamily="34" charset="-122"/>
                <a:cs typeface="Calibri" pitchFamily="34" charset="-120"/>
              </a:rPr>
              <a:t>La maternidad se retrasa de forma constante: la edad media de la madre ha subido casi 5 años desde 1985.</a:t>
            </a:r>
            <a:endParaRPr lang="en-US" sz="1350" dirty="0"/>
          </a:p>
        </p:txBody>
      </p:sp>
      <p:sp>
        <p:nvSpPr>
          <p:cNvPr id="11" name="Shape 7"/>
          <p:cNvSpPr/>
          <p:nvPr/>
        </p:nvSpPr>
        <p:spPr>
          <a:xfrm>
            <a:off x="640080" y="3886200"/>
            <a:ext cx="5349240" cy="2148840"/>
          </a:xfrm>
          <a:prstGeom prst="roundRect">
            <a:avLst>
              <a:gd name="adj" fmla="val 5106"/>
            </a:avLst>
          </a:prstGeom>
          <a:solidFill>
            <a:srgbClr val="FFFFFF"/>
          </a:solidFill>
          <a:ln/>
          <a:effectLst>
            <a:outerShdw sx="100000" sy="100000" kx="0" ky="0" algn="bl" rotWithShape="0" blurRad="177800" dist="38100" dir="5400000">
              <a:srgbClr val="1E2761">
                <a:alpha val="12000"/>
              </a:srgbClr>
            </a:outerShdw>
          </a:effectLst>
        </p:spPr>
      </p:sp>
      <p:sp>
        <p:nvSpPr>
          <p:cNvPr id="12" name="Shape 8"/>
          <p:cNvSpPr/>
          <p:nvPr/>
        </p:nvSpPr>
        <p:spPr>
          <a:xfrm>
            <a:off x="914400" y="4160520"/>
            <a:ext cx="502920" cy="502920"/>
          </a:xfrm>
          <a:prstGeom prst="ellipse">
            <a:avLst/>
          </a:prstGeom>
          <a:solidFill>
            <a:srgbClr val="6FA8DC"/>
          </a:solidFill>
          <a:ln/>
          <a:effectLst>
            <a:outerShdw sx="100000" sy="100000" kx="0" ky="0" algn="bl" rotWithShape="0" blurRad="76200" dist="25400" dir="5400000">
              <a:srgbClr val="0B0F26">
                <a:alpha val="25000"/>
              </a:srgbClr>
            </a:outerShdw>
          </a:effectLst>
        </p:spPr>
      </p:sp>
      <p:pic>
        <p:nvPicPr>
          <p:cNvPr id="13" name="Image 2" descr="/home/claude/ppt_review/icons/check.png">    </p:cNvPr>
          <p:cNvPicPr>
            <a:picLocks noChangeAspect="1"/>
          </p:cNvPicPr>
          <p:nvPr/>
        </p:nvPicPr>
        <p:blipFill>
          <a:blip r:embed="rId3"/>
          <a:stretch>
            <a:fillRect/>
          </a:stretch>
        </p:blipFill>
        <p:spPr>
          <a:xfrm>
            <a:off x="1014984" y="4261104"/>
            <a:ext cx="301752" cy="301752"/>
          </a:xfrm>
          <a:prstGeom prst="rect">
            <a:avLst/>
          </a:prstGeom>
        </p:spPr>
      </p:pic>
      <p:sp>
        <p:nvSpPr>
          <p:cNvPr id="14" name="Text 9"/>
          <p:cNvSpPr txBox="1"/>
          <p:nvPr/>
        </p:nvSpPr>
        <p:spPr>
          <a:xfrm>
            <a:off x="914400" y="4800600"/>
            <a:ext cx="4800600" cy="1005840"/>
          </a:xfrm>
          <a:prstGeom prst="rect">
            <a:avLst/>
          </a:prstGeom>
          <a:noFill/>
          <a:ln/>
        </p:spPr>
        <p:txBody>
          <a:bodyPr wrap="square" lIns="0" tIns="0" rIns="0" bIns="0" rtlCol="0" anchor="t"/>
          <a:lstStyle/>
          <a:p>
            <a:pPr indent="0" marL="0">
              <a:lnSpc>
                <a:spcPts val="1800"/>
              </a:lnSpc>
              <a:buNone/>
            </a:pPr>
            <a:r>
              <a:rPr lang="en-US" sz="1350" dirty="0">
                <a:solidFill>
                  <a:srgbClr val="26304F"/>
                </a:solidFill>
                <a:latin typeface="Calibri" pitchFamily="34" charset="0"/>
                <a:ea typeface="Calibri" pitchFamily="34" charset="-122"/>
                <a:cs typeface="Calibri" pitchFamily="34" charset="-120"/>
              </a:rPr>
              <a:t>Los nacimientos de madres jóvenes (≤29 años) se concentran en Madrid capital y en municipios del sur y este metropolitano.</a:t>
            </a:r>
            <a:endParaRPr lang="en-US" sz="1350" dirty="0"/>
          </a:p>
        </p:txBody>
      </p:sp>
      <p:sp>
        <p:nvSpPr>
          <p:cNvPr id="15" name="Shape 10"/>
          <p:cNvSpPr/>
          <p:nvPr/>
        </p:nvSpPr>
        <p:spPr>
          <a:xfrm>
            <a:off x="6355080" y="3886200"/>
            <a:ext cx="5349240" cy="2148840"/>
          </a:xfrm>
          <a:prstGeom prst="roundRect">
            <a:avLst>
              <a:gd name="adj" fmla="val 5106"/>
            </a:avLst>
          </a:prstGeom>
          <a:solidFill>
            <a:srgbClr val="FFFFFF"/>
          </a:solidFill>
          <a:ln/>
          <a:effectLst>
            <a:outerShdw sx="100000" sy="100000" kx="0" ky="0" algn="bl" rotWithShape="0" blurRad="177800" dist="38100" dir="5400000">
              <a:srgbClr val="1E2761">
                <a:alpha val="12000"/>
              </a:srgbClr>
            </a:outerShdw>
          </a:effectLst>
        </p:spPr>
      </p:sp>
      <p:sp>
        <p:nvSpPr>
          <p:cNvPr id="16" name="Shape 11"/>
          <p:cNvSpPr/>
          <p:nvPr/>
        </p:nvSpPr>
        <p:spPr>
          <a:xfrm>
            <a:off x="6629400" y="4160520"/>
            <a:ext cx="502920" cy="502920"/>
          </a:xfrm>
          <a:prstGeom prst="ellipse">
            <a:avLst/>
          </a:prstGeom>
          <a:solidFill>
            <a:srgbClr val="6FA8DC"/>
          </a:solidFill>
          <a:ln/>
          <a:effectLst>
            <a:outerShdw sx="100000" sy="100000" kx="0" ky="0" algn="bl" rotWithShape="0" blurRad="76200" dist="25400" dir="5400000">
              <a:srgbClr val="0B0F26">
                <a:alpha val="25000"/>
              </a:srgbClr>
            </a:outerShdw>
          </a:effectLst>
        </p:spPr>
      </p:sp>
      <p:pic>
        <p:nvPicPr>
          <p:cNvPr id="17" name="Image 3" descr="/home/claude/ppt_review/icons/check.png">    </p:cNvPr>
          <p:cNvPicPr>
            <a:picLocks noChangeAspect="1"/>
          </p:cNvPicPr>
          <p:nvPr/>
        </p:nvPicPr>
        <p:blipFill>
          <a:blip r:embed="rId4"/>
          <a:stretch>
            <a:fillRect/>
          </a:stretch>
        </p:blipFill>
        <p:spPr>
          <a:xfrm>
            <a:off x="6729984" y="4261104"/>
            <a:ext cx="301752" cy="301752"/>
          </a:xfrm>
          <a:prstGeom prst="rect">
            <a:avLst/>
          </a:prstGeom>
        </p:spPr>
      </p:pic>
      <p:sp>
        <p:nvSpPr>
          <p:cNvPr id="18" name="Text 12"/>
          <p:cNvSpPr txBox="1"/>
          <p:nvPr/>
        </p:nvSpPr>
        <p:spPr>
          <a:xfrm>
            <a:off x="6629400" y="4800600"/>
            <a:ext cx="4800600" cy="1005840"/>
          </a:xfrm>
          <a:prstGeom prst="rect">
            <a:avLst/>
          </a:prstGeom>
          <a:noFill/>
          <a:ln/>
        </p:spPr>
        <p:txBody>
          <a:bodyPr wrap="square" lIns="0" tIns="0" rIns="0" bIns="0" rtlCol="0" anchor="t"/>
          <a:lstStyle/>
          <a:p>
            <a:pPr indent="0" marL="0">
              <a:lnSpc>
                <a:spcPts val="1800"/>
              </a:lnSpc>
              <a:buNone/>
            </a:pPr>
            <a:r>
              <a:rPr lang="en-US" sz="1350" dirty="0">
                <a:solidFill>
                  <a:srgbClr val="26304F"/>
                </a:solidFill>
                <a:latin typeface="Calibri" pitchFamily="34" charset="0"/>
                <a:ea typeface="Calibri" pitchFamily="34" charset="-122"/>
                <a:cs typeface="Calibri" pitchFamily="34" charset="-120"/>
              </a:rPr>
              <a:t>Más de una cuarta parte de los nacimientos corresponden a madres extranjeras, con predominio del origen americano.</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194560" y="3657600"/>
            <a:ext cx="5486400" cy="5486400"/>
          </a:xfrm>
          <a:prstGeom prst="ellipse">
            <a:avLst/>
          </a:prstGeom>
          <a:solidFill>
            <a:srgbClr val="141B3D"/>
          </a:solidFill>
          <a:ln/>
        </p:spPr>
      </p:sp>
      <p:sp>
        <p:nvSpPr>
          <p:cNvPr id="3" name="Shape 1"/>
          <p:cNvSpPr/>
          <p:nvPr/>
        </p:nvSpPr>
        <p:spPr>
          <a:xfrm>
            <a:off x="640080" y="640080"/>
            <a:ext cx="640080" cy="640080"/>
          </a:xfrm>
          <a:prstGeom prst="ellipse">
            <a:avLst/>
          </a:prstGeom>
          <a:solidFill>
            <a:srgbClr val="6FA8DC"/>
          </a:solidFill>
          <a:ln/>
          <a:effectLst>
            <a:outerShdw sx="100000" sy="100000" kx="0" ky="0" algn="bl" rotWithShape="0" blurRad="76200" dist="25400" dir="5400000">
              <a:srgbClr val="0B0F26">
                <a:alpha val="25000"/>
              </a:srgbClr>
            </a:outerShdw>
          </a:effectLst>
        </p:spPr>
      </p:sp>
      <p:pic>
        <p:nvPicPr>
          <p:cNvPr id="4" name="Image 0" descr="/home/claude/ppt_review/icons/bullseye.png">    </p:cNvPr>
          <p:cNvPicPr>
            <a:picLocks noChangeAspect="1"/>
          </p:cNvPicPr>
          <p:nvPr/>
        </p:nvPicPr>
        <p:blipFill>
          <a:blip r:embed="rId1"/>
          <a:stretch>
            <a:fillRect/>
          </a:stretch>
        </p:blipFill>
        <p:spPr>
          <a:xfrm>
            <a:off x="774497" y="774497"/>
            <a:ext cx="371246" cy="371246"/>
          </a:xfrm>
          <a:prstGeom prst="rect">
            <a:avLst/>
          </a:prstGeom>
        </p:spPr>
      </p:pic>
      <p:sp>
        <p:nvSpPr>
          <p:cNvPr id="5" name="Text 2"/>
          <p:cNvSpPr txBox="1"/>
          <p:nvPr/>
        </p:nvSpPr>
        <p:spPr>
          <a:xfrm>
            <a:off x="640080" y="146304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Conclusiones</a:t>
            </a:r>
            <a:endParaRPr lang="en-US" sz="3200" dirty="0"/>
          </a:p>
        </p:txBody>
      </p:sp>
      <p:sp>
        <p:nvSpPr>
          <p:cNvPr id="6" name="Text 3"/>
          <p:cNvSpPr txBox="1"/>
          <p:nvPr/>
        </p:nvSpPr>
        <p:spPr>
          <a:xfrm>
            <a:off x="640080" y="2331720"/>
            <a:ext cx="10881360" cy="1188720"/>
          </a:xfrm>
          <a:prstGeom prst="rect">
            <a:avLst/>
          </a:prstGeom>
          <a:noFill/>
          <a:ln/>
        </p:spPr>
        <p:txBody>
          <a:bodyPr wrap="square" lIns="0" tIns="0" rIns="0" bIns="0" rtlCol="0" anchor="ctr"/>
          <a:lstStyle/>
          <a:p>
            <a:pPr indent="0" marL="0">
              <a:lnSpc>
                <a:spcPts val="2100"/>
              </a:lnSpc>
              <a:buNone/>
            </a:pPr>
            <a:r>
              <a:rPr lang="en-US" sz="1500" dirty="0">
                <a:solidFill>
                  <a:srgbClr val="CADCFC"/>
                </a:solidFill>
                <a:latin typeface="Calibri" pitchFamily="34" charset="0"/>
                <a:ea typeface="Calibri" pitchFamily="34" charset="-122"/>
                <a:cs typeface="Calibri" pitchFamily="34" charset="-120"/>
              </a:rPr>
              <a:t>Los datos analizados confirman un contexto demográfico de baja natalidad y maternidad cada vez más tardía en la Comunidad de Madrid, con una población de madres extranjeras jóvenes que representa un porcentaje significativo del total de nacimientos.</a:t>
            </a:r>
            <a:endParaRPr lang="en-US" sz="1500" dirty="0"/>
          </a:p>
        </p:txBody>
      </p:sp>
      <p:sp>
        <p:nvSpPr>
          <p:cNvPr id="7" name="Text 4"/>
          <p:cNvSpPr txBox="1"/>
          <p:nvPr/>
        </p:nvSpPr>
        <p:spPr>
          <a:xfrm>
            <a:off x="640080" y="3520440"/>
            <a:ext cx="10881360" cy="1188720"/>
          </a:xfrm>
          <a:prstGeom prst="rect">
            <a:avLst/>
          </a:prstGeom>
          <a:noFill/>
          <a:ln/>
        </p:spPr>
        <p:txBody>
          <a:bodyPr wrap="square" lIns="0" tIns="0" rIns="0" bIns="0" rtlCol="0" anchor="ctr"/>
          <a:lstStyle/>
          <a:p>
            <a:pPr indent="0" marL="0">
              <a:lnSpc>
                <a:spcPts val="2100"/>
              </a:lnSpc>
              <a:buNone/>
            </a:pPr>
            <a:r>
              <a:rPr lang="en-US" sz="1500" dirty="0">
                <a:solidFill>
                  <a:srgbClr val="CADCFC"/>
                </a:solidFill>
                <a:latin typeface="Calibri" pitchFamily="34" charset="0"/>
                <a:ea typeface="Calibri" pitchFamily="34" charset="-122"/>
                <a:cs typeface="Calibri" pitchFamily="34" charset="-120"/>
              </a:rPr>
              <a:t>Este análisis pone en valor la utilidad de un enfoque de datos para apoyar la gestión de políticas públicas como la Ayuda económica a la natalidad: permite identificar dónde se concentra la población destinataria, entender mejor su perfil y anticipar la evolución de la demanda en los próximos años.</a:t>
            </a:r>
            <a:endParaRPr lang="en-US" sz="1500" dirty="0"/>
          </a:p>
        </p:txBody>
      </p:sp>
      <p:sp>
        <p:nvSpPr>
          <p:cNvPr id="8" name="Shape 5"/>
          <p:cNvSpPr/>
          <p:nvPr/>
        </p:nvSpPr>
        <p:spPr>
          <a:xfrm>
            <a:off x="640080" y="4892040"/>
            <a:ext cx="10881360" cy="1417320"/>
          </a:xfrm>
          <a:prstGeom prst="roundRect">
            <a:avLst>
              <a:gd name="adj" fmla="val 9032"/>
            </a:avLst>
          </a:prstGeom>
          <a:solidFill>
            <a:srgbClr val="6FA8DC"/>
          </a:solidFill>
          <a:ln/>
        </p:spPr>
      </p:sp>
      <p:sp>
        <p:nvSpPr>
          <p:cNvPr id="9" name="Text 6"/>
          <p:cNvSpPr txBox="1"/>
          <p:nvPr/>
        </p:nvSpPr>
        <p:spPr>
          <a:xfrm>
            <a:off x="914400" y="4892040"/>
            <a:ext cx="10332720" cy="1417320"/>
          </a:xfrm>
          <a:prstGeom prst="rect">
            <a:avLst/>
          </a:prstGeom>
          <a:noFill/>
          <a:ln/>
        </p:spPr>
        <p:txBody>
          <a:bodyPr wrap="square" lIns="0" tIns="0" rIns="0" bIns="0" rtlCol="0" anchor="ctr"/>
          <a:lstStyle/>
          <a:p>
            <a:pPr indent="0" marL="0">
              <a:lnSpc>
                <a:spcPts val="1900"/>
              </a:lnSpc>
              <a:buNone/>
            </a:pPr>
            <a:r>
              <a:rPr lang="en-US" sz="1450" b="1" dirty="0">
                <a:solidFill>
                  <a:srgbClr val="FFFFFF"/>
                </a:solidFill>
                <a:latin typeface="Calibri" pitchFamily="34" charset="0"/>
                <a:ea typeface="Calibri" pitchFamily="34" charset="-122"/>
                <a:cs typeface="Calibri" pitchFamily="34" charset="-120"/>
              </a:rPr>
              <a:t>Como candidata al puesto de Administrativa – Tramitación de Ayudas a la Natalidad, este proyecto refleja mi capacidad para combinar análisis de datos abiertos con el conocimiento del contexto administrativo y social en el que se enmarca esta ayuda.</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2026-09-15T08:29:33Z</dcterms:created>
  <dcterms:modified xsi:type="dcterms:W3CDTF">2026-09-15T08:29:33Z</dcterms:modified>
</cp:coreProperties>
</file>